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2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Helium Case: A 40% Cut to Qatar's Production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analytical stack reveals — and what it changes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1A2242">
              <a:alpha val="50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54864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73936"/>
            <a:ext cx="54864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83664"/>
            <a:ext cx="54864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1396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DATA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3182112"/>
            <a:ext cx="54864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291840"/>
            <a:ext cx="54864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401568"/>
            <a:ext cx="54864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657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DATA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92040" y="214884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01768" y="2295144"/>
            <a:ext cx="566928" cy="36576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17" name="Shape 15"/>
          <p:cNvSpPr/>
          <p:nvPr/>
        </p:nvSpPr>
        <p:spPr>
          <a:xfrm>
            <a:off x="5001768" y="2432304"/>
            <a:ext cx="566928" cy="36576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18" name="Shape 16"/>
          <p:cNvSpPr/>
          <p:nvPr/>
        </p:nvSpPr>
        <p:spPr>
          <a:xfrm>
            <a:off x="5001768" y="2569464"/>
            <a:ext cx="566928" cy="36576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19" name="Shape 17"/>
          <p:cNvSpPr/>
          <p:nvPr/>
        </p:nvSpPr>
        <p:spPr>
          <a:xfrm>
            <a:off x="5001768" y="2706624"/>
            <a:ext cx="384048" cy="36576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017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17720" y="3218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965960" y="1234440"/>
            <a:ext cx="530352" cy="530352"/>
          </a:xfrm>
          <a:prstGeom prst="ellipse">
            <a:avLst/>
          </a:prstGeom>
          <a:solidFill>
            <a:srgbClr val="1F2A4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9968" y="1298448"/>
            <a:ext cx="402336" cy="402336"/>
          </a:xfrm>
          <a:prstGeom prst="ellipse">
            <a:avLst/>
          </a:prstGeom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12264" y="1380744"/>
            <a:ext cx="237744" cy="237744"/>
          </a:xfrm>
          <a:prstGeom prst="ellipse">
            <a:avLst/>
          </a:prstGeom>
          <a:ln w="12700">
            <a:solidFill>
              <a:srgbClr val="FDE6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146304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2212848" y="1280160"/>
            <a:ext cx="36576" cy="36576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27" name="Shape 25"/>
          <p:cNvSpPr/>
          <p:nvPr/>
        </p:nvSpPr>
        <p:spPr>
          <a:xfrm>
            <a:off x="2212848" y="1682496"/>
            <a:ext cx="36576" cy="36576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28" name="Shape 26"/>
          <p:cNvSpPr/>
          <p:nvPr/>
        </p:nvSpPr>
        <p:spPr>
          <a:xfrm>
            <a:off x="2011680" y="1481328"/>
            <a:ext cx="36576" cy="36576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29" name="Shape 27"/>
          <p:cNvSpPr/>
          <p:nvPr/>
        </p:nvSpPr>
        <p:spPr>
          <a:xfrm>
            <a:off x="2414016" y="1481328"/>
            <a:ext cx="36576" cy="36576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30" name="Text 28"/>
          <p:cNvSpPr/>
          <p:nvPr/>
        </p:nvSpPr>
        <p:spPr>
          <a:xfrm>
            <a:off x="1682496" y="1828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NETWORK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29000" y="1234440"/>
            <a:ext cx="530352" cy="530352"/>
          </a:xfrm>
          <a:prstGeom prst="ellipse">
            <a:avLst/>
          </a:prstGeom>
          <a:solidFill>
            <a:srgbClr val="1F2A4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94176" y="1499616"/>
            <a:ext cx="-164592" cy="-13716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94176" y="1499616"/>
            <a:ext cx="164592" cy="-13716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94176" y="1499616"/>
            <a:ext cx="-164592" cy="13716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94176" y="1499616"/>
            <a:ext cx="164592" cy="13716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83864" y="1316736"/>
            <a:ext cx="91440" cy="91440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37" name="Shape 35"/>
          <p:cNvSpPr/>
          <p:nvPr/>
        </p:nvSpPr>
        <p:spPr>
          <a:xfrm>
            <a:off x="3813048" y="1316736"/>
            <a:ext cx="91440" cy="91440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38" name="Shape 36"/>
          <p:cNvSpPr/>
          <p:nvPr/>
        </p:nvSpPr>
        <p:spPr>
          <a:xfrm>
            <a:off x="3483864" y="1591056"/>
            <a:ext cx="91440" cy="91440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39" name="Shape 37"/>
          <p:cNvSpPr/>
          <p:nvPr/>
        </p:nvSpPr>
        <p:spPr>
          <a:xfrm>
            <a:off x="3813048" y="1591056"/>
            <a:ext cx="91440" cy="91440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40" name="Shape 38"/>
          <p:cNvSpPr/>
          <p:nvPr/>
        </p:nvSpPr>
        <p:spPr>
          <a:xfrm>
            <a:off x="3621024" y="14264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3145536" y="1828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NETWORK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737360" y="2286000"/>
            <a:ext cx="530352" cy="530352"/>
          </a:xfrm>
          <a:prstGeom prst="ellipse">
            <a:avLst/>
          </a:prstGeom>
          <a:solidFill>
            <a:srgbClr val="1F2A4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54403" y="2403043"/>
            <a:ext cx="9144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4" name="Shape 42"/>
          <p:cNvSpPr/>
          <p:nvPr/>
        </p:nvSpPr>
        <p:spPr>
          <a:xfrm>
            <a:off x="1956816" y="2403043"/>
            <a:ext cx="914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Shape 43"/>
          <p:cNvSpPr/>
          <p:nvPr/>
        </p:nvSpPr>
        <p:spPr>
          <a:xfrm>
            <a:off x="2059229" y="2403043"/>
            <a:ext cx="91440" cy="914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6" name="Shape 44"/>
          <p:cNvSpPr/>
          <p:nvPr/>
        </p:nvSpPr>
        <p:spPr>
          <a:xfrm>
            <a:off x="1854403" y="2505456"/>
            <a:ext cx="91440" cy="914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7" name="Shape 45"/>
          <p:cNvSpPr/>
          <p:nvPr/>
        </p:nvSpPr>
        <p:spPr>
          <a:xfrm>
            <a:off x="1956816" y="2505456"/>
            <a:ext cx="9144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Shape 46"/>
          <p:cNvSpPr/>
          <p:nvPr/>
        </p:nvSpPr>
        <p:spPr>
          <a:xfrm>
            <a:off x="2059229" y="2505456"/>
            <a:ext cx="914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1854403" y="2607869"/>
            <a:ext cx="914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Shape 48"/>
          <p:cNvSpPr/>
          <p:nvPr/>
        </p:nvSpPr>
        <p:spPr>
          <a:xfrm>
            <a:off x="1956816" y="2607869"/>
            <a:ext cx="91440" cy="914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1" name="Shape 49"/>
          <p:cNvSpPr/>
          <p:nvPr/>
        </p:nvSpPr>
        <p:spPr>
          <a:xfrm>
            <a:off x="2059229" y="2607869"/>
            <a:ext cx="9144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1453896" y="2880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834640" y="2286000"/>
            <a:ext cx="530352" cy="530352"/>
          </a:xfrm>
          <a:prstGeom prst="ellipse">
            <a:avLst/>
          </a:prstGeom>
          <a:solidFill>
            <a:srgbClr val="1F2A4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53512" y="2551176"/>
            <a:ext cx="73152" cy="164592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55" name="Shape 53"/>
          <p:cNvSpPr/>
          <p:nvPr/>
        </p:nvSpPr>
        <p:spPr>
          <a:xfrm>
            <a:off x="3063240" y="2459736"/>
            <a:ext cx="73152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Shape 54"/>
          <p:cNvSpPr/>
          <p:nvPr/>
        </p:nvSpPr>
        <p:spPr>
          <a:xfrm>
            <a:off x="3172968" y="2514600"/>
            <a:ext cx="73152" cy="201168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57" name="Shape 55"/>
          <p:cNvSpPr/>
          <p:nvPr/>
        </p:nvSpPr>
        <p:spPr>
          <a:xfrm>
            <a:off x="3044952" y="2331720"/>
            <a:ext cx="109728" cy="109728"/>
          </a:xfrm>
          <a:prstGeom prst="star5">
            <a:avLst/>
          </a:prstGeom>
          <a:solidFill>
            <a:srgbClr val="FCD34D"/>
          </a:solidFill>
          <a:ln/>
        </p:spPr>
      </p:sp>
      <p:sp>
        <p:nvSpPr>
          <p:cNvPr id="58" name="Text 56"/>
          <p:cNvSpPr/>
          <p:nvPr/>
        </p:nvSpPr>
        <p:spPr>
          <a:xfrm>
            <a:off x="2551176" y="2880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931920" y="2286000"/>
            <a:ext cx="530352" cy="530352"/>
          </a:xfrm>
          <a:prstGeom prst="ellipse">
            <a:avLst/>
          </a:prstGeom>
          <a:solidFill>
            <a:srgbClr val="1F2A4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14216" y="2404872"/>
            <a:ext cx="219456" cy="219456"/>
          </a:xfrm>
          <a:prstGeom prst="ellipse">
            <a:avLst/>
          </a:prstGeom>
          <a:solidFill>
            <a:srgbClr val="F59E0B">
              <a:alpha val="5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60520" y="2404872"/>
            <a:ext cx="219456" cy="219456"/>
          </a:xfrm>
          <a:prstGeom prst="ellipse">
            <a:avLst/>
          </a:prstGeom>
          <a:solidFill>
            <a:srgbClr val="FDE68A">
              <a:alpha val="55000"/>
            </a:srgbClr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87368" y="2514600"/>
            <a:ext cx="219456" cy="219456"/>
          </a:xfrm>
          <a:prstGeom prst="ellipse">
            <a:avLst/>
          </a:prstGeom>
          <a:solidFill>
            <a:srgbClr val="FB923C">
              <a:alpha val="55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48456" y="2880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965960" y="3337560"/>
            <a:ext cx="530352" cy="530352"/>
          </a:xfrm>
          <a:prstGeom prst="ellipse">
            <a:avLst/>
          </a:prstGeom>
          <a:solidFill>
            <a:srgbClr val="1F2A4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084832" y="3474720"/>
            <a:ext cx="292608" cy="256032"/>
          </a:xfrm>
          <a:prstGeom prst="hexagon">
            <a:avLst/>
          </a:prstGeom>
          <a:solidFill>
            <a:srgbClr val="FDE6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21408" y="3493008"/>
            <a:ext cx="219456" cy="21945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21408" y="3712464"/>
            <a:ext cx="219456" cy="-21945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82496" y="39319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DISRUPTION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429000" y="3337560"/>
            <a:ext cx="530352" cy="530352"/>
          </a:xfrm>
          <a:prstGeom prst="ellipse">
            <a:avLst/>
          </a:prstGeom>
          <a:solidFill>
            <a:srgbClr val="1F2A4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593592" y="3511296"/>
            <a:ext cx="20116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3822192" y="3538728"/>
            <a:ext cx="-128016" cy="15544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3675888" y="3712464"/>
            <a:ext cx="-91440" cy="-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3529584" y="3474720"/>
            <a:ext cx="73152" cy="73152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74" name="Shape 72"/>
          <p:cNvSpPr/>
          <p:nvPr/>
        </p:nvSpPr>
        <p:spPr>
          <a:xfrm>
            <a:off x="3785616" y="3474720"/>
            <a:ext cx="73152" cy="73152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75" name="Shape 73"/>
          <p:cNvSpPr/>
          <p:nvPr/>
        </p:nvSpPr>
        <p:spPr>
          <a:xfrm>
            <a:off x="3657600" y="3675888"/>
            <a:ext cx="73152" cy="73152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76" name="Text 74"/>
          <p:cNvSpPr/>
          <p:nvPr/>
        </p:nvSpPr>
        <p:spPr>
          <a:xfrm>
            <a:off x="3145536" y="39319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DISRUPTION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051560" y="1865376"/>
            <a:ext cx="8686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1051560" y="3383280"/>
            <a:ext cx="8686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4480560" y="2551176"/>
            <a:ext cx="38404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5715000" y="2560320"/>
            <a:ext cx="21031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457200" y="4434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15.5%</a:t>
            </a:r>
            <a:endParaRPr lang="en-US" sz="5600" dirty="0"/>
          </a:p>
        </p:txBody>
      </p:sp>
      <p:sp>
        <p:nvSpPr>
          <p:cNvPr id="82" name="Text 80"/>
          <p:cNvSpPr/>
          <p:nvPr/>
        </p:nvSpPr>
        <p:spPr>
          <a:xfrm>
            <a:off x="457200" y="5349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SUPPLY REMOVED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57200" y="5650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40% Qatar production cut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3291840" y="4434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</a:t>
            </a:r>
            <a:endParaRPr lang="en-US" sz="5600" dirty="0"/>
          </a:p>
        </p:txBody>
      </p:sp>
      <p:sp>
        <p:nvSpPr>
          <p:cNvPr id="85" name="Text 83"/>
          <p:cNvSpPr/>
          <p:nvPr/>
        </p:nvSpPr>
        <p:spPr>
          <a:xfrm>
            <a:off x="3291840" y="5349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EXPOSED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291840" y="5650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microelectronics, biotech, pharma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400800" y="1143000"/>
            <a:ext cx="9144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8" name="Text 86"/>
          <p:cNvSpPr/>
          <p:nvPr/>
        </p:nvSpPr>
        <p:spPr>
          <a:xfrm>
            <a:off x="658368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6400800" y="1508760"/>
            <a:ext cx="5623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Concentration: HHI 2,815; Qatar 38.8% + US 35.3% = 95% of global production from just 6 countries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Qatar's profile: "narrow but deep" — leads in only 1 material, yet hits 60 of 60 microelectronics technologies (36.2% avg share)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direct exposure has pivoted: Qatar dominated imports through 2021; Canada has supplied ~97% since 2022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in: only 2 countries have held the top US supplier position across 9 years — no meaningful substitution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6400800" y="4160520"/>
            <a:ext cx="56235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1" name="Shape 89"/>
          <p:cNvSpPr/>
          <p:nvPr/>
        </p:nvSpPr>
        <p:spPr>
          <a:xfrm>
            <a:off x="6400800" y="4370832"/>
            <a:ext cx="9144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2" name="Text 90"/>
          <p:cNvSpPr/>
          <p:nvPr/>
        </p:nvSpPr>
        <p:spPr>
          <a:xfrm>
            <a:off x="6583680" y="43251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POLICY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6400800" y="4736592"/>
            <a:ext cx="5623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Price-shock risk (global supply) and US import-exposure risk are now distinct questions with distinct answers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consumables like helium sit outside existing critical-minerals frameworks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2024 Federal Helium Reserve wind-down left no stockpile buffer for a commodity with HHI 2,815 and no substitution channel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2026-04-22T19:28:18Z</dcterms:created>
  <dcterms:modified xsi:type="dcterms:W3CDTF">2026-04-22T19:28:18Z</dcterms:modified>
</cp:coreProperties>
</file>