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you need to assess the potential impact of a sizeable reduction in Helium production from Qatar. Where do you start? How many technologies are affected, how concentrated is the market, and what does the US import picture actually look like? STDN Explorer is a supply chain analysis dashboard that maps technologies down to the raw materials and countries they depend on. The 180 technologies across 3 domains shown here are a limited sample for demonstration purposes. The data was generated by a novel AI agent pipeline, which we will describe at the end of this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STDN Explorer is a web dashboard for investigating supply chain vulnerabilities. It maps four layers of dependency for each technology: the finished product, its procurable components, the raw materials those components require, and the countries that produce those materials. The current dataset covers three domains with 60 technologies each. This is a demonstration sample. The system is domain-agnostic and can scale to hundreds of domains and thousands of technologies.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STDN Explorer maps four layers of dependency for each technology, starting from the finished technology, down through its procurable components, to the raw materials those components require, and finally to the countries that produce those materials. The 180 technologies across 3 domains shown here are a limited sample for demonstration purposes. A fully deployed system could handle hundreds of domains and thousands of technologies.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with the Material Network. This view works in the opposite direction from the rest of the dashboard. Instead of picking a technology and looking at what it needs, we pick a material and see everything that depends on it. Selecting Helium, we immediately see 152 technologies across all three domains. This is not a niche material. It touches nearly everything in our sample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technology is at the center, surrounded by its components, the materials those components need, and the countries that produce them. Clicking the Helium node, we see it's a process consumable, shown in purple with a dashed edge. It's used during manufacturing for leak testing but is not in the final product. Selecting Qatar in the graph shows it holding 38.8% of global Helium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Concentration view shows a heatmap of HHI scores, a standard measure of market concentration. For the Smartphone, Helium's HHI is 2,815, which falls in the high concentration range. Only six countries produce it at any scale, and the top two account for over 74% of global output. A 40% cut to Qatar's production removes roughly 15.5% of world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Dominance view ranks countries by how many materials they lead in. Qatar appears further down with a Low classification. It leads in just one material. But look at the reach: 60 out of 60 technologies affected in the Microelectronics domain alone, with an average share of 36.2%. Qatar's risk profile is narrow but deep.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Overlap view answers a direct question: if Qatar's Helium output drops, how many technologies feel it at once? Helium is the third most widely shared material in the dataset. Switching to Shared Countries, Qatar shows up touching 173 technologies but through only 10 materials. Qatar's exposure is concentrated in a single commodity.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Supply Disruption simulator models what happens if a country stops producing entirely. Selecting Qatar: zero Critical, 152 High severity technologies, 173 total affected. Every Helium-dependent technology gets a High rating because Qatar holds 38.8% of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Trade Disruption view uses actual US import values from UN Comtrade. Qatar was the top disruption source through 2021. Starting in 2022, Canada replaced it. The Substitutability tab confirms Helium's lock-in: only 2 distinct countries have held the top supplier position across 9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Analyst section pulls everything together. Selecting the Disruption impact of a material template for Helium generates a structured report. The Ask Gemini sidebar lets you ask follow-up questions. Asking about the 40% Qatar reduction, Gemini calculates a 15.5% global supply reduction and flags the systemic risk across all 152 dependent technologies.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behind this dashboard was not assembled by hand. It was constructed by a pipeline of AI agents that debate each layer of the supply chain. Multiple agents independently propose the components a technology requires, then reconcile their proposals through rounds of structured debate until they converge. Country production data is pulled from USGS Mineral Commodity Summaries where available. A single technology takes about 30 minutes. The 180 technologies were built in parallel batch runs in a single day, as opposed to months of manual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maps 180 technologies across 3 domains, covering roughly 900 distinct materials, 140 producing countries, and over 43,000 supply chain links. Each technology takes about 30 minutes to process. The entire demonstration dataset was built in one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deployed at dads2busy.github.io/stdn-explorer and requires no installation, login, or backend server. Source code, data, and documentation are at github.com/dads2busy/stdn-explorer.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9"/>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F59E0B"/>
          </a:solidFill>
          <a:ln/>
        </p:spPr>
      </p:sp>
      <p:sp>
        <p:nvSpPr>
          <p:cNvPr id="3" name="Text 1"/>
          <p:cNvSpPr/>
          <p:nvPr/>
        </p:nvSpPr>
        <p:spPr>
          <a:xfrm>
            <a:off x="731520" y="1828800"/>
            <a:ext cx="10698480" cy="1097280"/>
          </a:xfrm>
          <a:prstGeom prst="rect">
            <a:avLst/>
          </a:prstGeom>
          <a:noFill/>
          <a:ln/>
        </p:spPr>
        <p:txBody>
          <a:bodyPr wrap="square" lIns="0" tIns="0" rIns="0" bIns="0" rtlCol="0" anchor="ctr"/>
          <a:lstStyle/>
          <a:p>
            <a:pPr indent="0" marL="0">
              <a:buNone/>
            </a:pPr>
            <a:r>
              <a:rPr lang="en-US" sz="4800" b="1" dirty="0">
                <a:solidFill>
                  <a:srgbClr val="E2E8F0"/>
                </a:solidFill>
                <a:latin typeface="Calibri" pitchFamily="34" charset="0"/>
                <a:ea typeface="Calibri" pitchFamily="34" charset="-122"/>
                <a:cs typeface="Calibri" pitchFamily="34" charset="-120"/>
              </a:rPr>
              <a:t>STDN Explorer</a:t>
            </a:r>
            <a:endParaRPr lang="en-US" sz="4800" dirty="0"/>
          </a:p>
        </p:txBody>
      </p:sp>
      <p:sp>
        <p:nvSpPr>
          <p:cNvPr id="4" name="Text 2"/>
          <p:cNvSpPr/>
          <p:nvPr/>
        </p:nvSpPr>
        <p:spPr>
          <a:xfrm>
            <a:off x="731520" y="3017520"/>
            <a:ext cx="10698480" cy="640080"/>
          </a:xfrm>
          <a:prstGeom prst="rect">
            <a:avLst/>
          </a:prstGeom>
          <a:noFill/>
          <a:ln/>
        </p:spPr>
        <p:txBody>
          <a:bodyPr wrap="square" lIns="0" tIns="0" rIns="0" bIns="0" rtlCol="0" anchor="ctr"/>
          <a:lstStyle/>
          <a:p>
            <a:pPr indent="0" marL="0">
              <a:buNone/>
            </a:pPr>
            <a:r>
              <a:rPr lang="en-US" sz="2400" dirty="0">
                <a:solidFill>
                  <a:srgbClr val="F59E0B"/>
                </a:solidFill>
                <a:latin typeface="Calibri" pitchFamily="34" charset="0"/>
                <a:ea typeface="Calibri" pitchFamily="34" charset="-122"/>
                <a:cs typeface="Calibri" pitchFamily="34" charset="-120"/>
              </a:rPr>
              <a:t>Supply Chain Dependency Analysis Dashboard</a:t>
            </a:r>
            <a:endParaRPr lang="en-US" sz="2400" dirty="0"/>
          </a:p>
        </p:txBody>
      </p:sp>
      <p:sp>
        <p:nvSpPr>
          <p:cNvPr id="5" name="Text 3"/>
          <p:cNvSpPr/>
          <p:nvPr/>
        </p:nvSpPr>
        <p:spPr>
          <a:xfrm>
            <a:off x="731520" y="3931920"/>
            <a:ext cx="10698480" cy="82296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Interactive exploration of technology supply chains across</a:t>
            </a:r>
            <a:endParaRPr lang="en-US" sz="1600" dirty="0"/>
          </a:p>
          <a:p>
            <a:pPr indent="0" marL="0">
              <a:buNone/>
            </a:pPr>
            <a:r>
              <a:rPr lang="en-US" sz="1600" dirty="0">
                <a:solidFill>
                  <a:srgbClr val="94A3B8"/>
                </a:solidFill>
                <a:latin typeface="Calibri" pitchFamily="34" charset="0"/>
                <a:ea typeface="Calibri" pitchFamily="34" charset="-122"/>
                <a:cs typeface="Calibri" pitchFamily="34" charset="-120"/>
              </a:rPr>
              <a:t>microelectronics, biotechnology, and pharmaceuticals</a:t>
            </a:r>
            <a:endParaRPr lang="en-US" sz="1600" dirty="0"/>
          </a:p>
        </p:txBody>
      </p:sp>
      <p:sp>
        <p:nvSpPr>
          <p:cNvPr id="6" name="Shape 4"/>
          <p:cNvSpPr/>
          <p:nvPr/>
        </p:nvSpPr>
        <p:spPr>
          <a:xfrm>
            <a:off x="0" y="5669280"/>
            <a:ext cx="12188952" cy="1188720"/>
          </a:xfrm>
          <a:prstGeom prst="rect">
            <a:avLst/>
          </a:prstGeom>
          <a:solidFill>
            <a:srgbClr val="141B2D"/>
          </a:solidFill>
          <a:ln/>
        </p:spPr>
      </p:sp>
      <p:sp>
        <p:nvSpPr>
          <p:cNvPr id="7" name="Text 5"/>
          <p:cNvSpPr/>
          <p:nvPr/>
        </p:nvSpPr>
        <p:spPr>
          <a:xfrm>
            <a:off x="731520" y="5806440"/>
            <a:ext cx="2011680" cy="502920"/>
          </a:xfrm>
          <a:prstGeom prst="rect">
            <a:avLst/>
          </a:prstGeom>
          <a:noFill/>
          <a:ln/>
        </p:spPr>
        <p:txBody>
          <a:bodyPr wrap="square" lIns="0" tIns="0" rIns="0" bIns="0" rtlCol="0" anchor="ctr"/>
          <a:lstStyle/>
          <a:p>
            <a:pPr indent="0" marL="0">
              <a:buNone/>
            </a:pPr>
            <a:r>
              <a:rPr lang="en-US" sz="2400" b="1" dirty="0">
                <a:solidFill>
                  <a:srgbClr val="F59E0B"/>
                </a:solidFill>
                <a:latin typeface="Calibri" pitchFamily="34" charset="0"/>
                <a:ea typeface="Calibri" pitchFamily="34" charset="-122"/>
                <a:cs typeface="Calibri" pitchFamily="34" charset="-120"/>
              </a:rPr>
              <a:t>180</a:t>
            </a:r>
            <a:endParaRPr lang="en-US" sz="2400" dirty="0"/>
          </a:p>
        </p:txBody>
      </p:sp>
      <p:sp>
        <p:nvSpPr>
          <p:cNvPr id="8" name="Text 6"/>
          <p:cNvSpPr/>
          <p:nvPr/>
        </p:nvSpPr>
        <p:spPr>
          <a:xfrm>
            <a:off x="731520" y="6263640"/>
            <a:ext cx="2011680" cy="3657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technologies</a:t>
            </a:r>
            <a:endParaRPr lang="en-US" sz="1200" dirty="0"/>
          </a:p>
        </p:txBody>
      </p:sp>
      <p:sp>
        <p:nvSpPr>
          <p:cNvPr id="9" name="Text 7"/>
          <p:cNvSpPr/>
          <p:nvPr/>
        </p:nvSpPr>
        <p:spPr>
          <a:xfrm>
            <a:off x="3017520" y="5806440"/>
            <a:ext cx="2011680" cy="502920"/>
          </a:xfrm>
          <a:prstGeom prst="rect">
            <a:avLst/>
          </a:prstGeom>
          <a:noFill/>
          <a:ln/>
        </p:spPr>
        <p:txBody>
          <a:bodyPr wrap="square" lIns="0" tIns="0" rIns="0" bIns="0" rtlCol="0" anchor="ctr"/>
          <a:lstStyle/>
          <a:p>
            <a:pPr indent="0" marL="0">
              <a:buNone/>
            </a:pPr>
            <a:r>
              <a:rPr lang="en-US" sz="2400" b="1" dirty="0">
                <a:solidFill>
                  <a:srgbClr val="F59E0B"/>
                </a:solidFill>
                <a:latin typeface="Calibri" pitchFamily="34" charset="0"/>
                <a:ea typeface="Calibri" pitchFamily="34" charset="-122"/>
                <a:cs typeface="Calibri" pitchFamily="34" charset="-120"/>
              </a:rPr>
              <a:t>3</a:t>
            </a:r>
            <a:endParaRPr lang="en-US" sz="2400" dirty="0"/>
          </a:p>
        </p:txBody>
      </p:sp>
      <p:sp>
        <p:nvSpPr>
          <p:cNvPr id="10" name="Text 8"/>
          <p:cNvSpPr/>
          <p:nvPr/>
        </p:nvSpPr>
        <p:spPr>
          <a:xfrm>
            <a:off x="3017520" y="6263640"/>
            <a:ext cx="2011680" cy="3657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domains</a:t>
            </a:r>
            <a:endParaRPr lang="en-US" sz="1200" dirty="0"/>
          </a:p>
        </p:txBody>
      </p:sp>
      <p:sp>
        <p:nvSpPr>
          <p:cNvPr id="11" name="Text 9"/>
          <p:cNvSpPr/>
          <p:nvPr/>
        </p:nvSpPr>
        <p:spPr>
          <a:xfrm>
            <a:off x="5303520" y="5806440"/>
            <a:ext cx="2011680" cy="502920"/>
          </a:xfrm>
          <a:prstGeom prst="rect">
            <a:avLst/>
          </a:prstGeom>
          <a:noFill/>
          <a:ln/>
        </p:spPr>
        <p:txBody>
          <a:bodyPr wrap="square" lIns="0" tIns="0" rIns="0" bIns="0" rtlCol="0" anchor="ctr"/>
          <a:lstStyle/>
          <a:p>
            <a:pPr indent="0" marL="0">
              <a:buNone/>
            </a:pPr>
            <a:r>
              <a:rPr lang="en-US" sz="2400" b="1" dirty="0">
                <a:solidFill>
                  <a:srgbClr val="F59E0B"/>
                </a:solidFill>
                <a:latin typeface="Calibri" pitchFamily="34" charset="0"/>
                <a:ea typeface="Calibri" pitchFamily="34" charset="-122"/>
                <a:cs typeface="Calibri" pitchFamily="34" charset="-120"/>
              </a:rPr>
              <a:t>~900</a:t>
            </a:r>
            <a:endParaRPr lang="en-US" sz="2400" dirty="0"/>
          </a:p>
        </p:txBody>
      </p:sp>
      <p:sp>
        <p:nvSpPr>
          <p:cNvPr id="12" name="Text 10"/>
          <p:cNvSpPr/>
          <p:nvPr/>
        </p:nvSpPr>
        <p:spPr>
          <a:xfrm>
            <a:off x="5303520" y="6263640"/>
            <a:ext cx="2011680" cy="3657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materials</a:t>
            </a:r>
            <a:endParaRPr lang="en-US" sz="1200" dirty="0"/>
          </a:p>
        </p:txBody>
      </p:sp>
      <p:sp>
        <p:nvSpPr>
          <p:cNvPr id="13" name="Text 11"/>
          <p:cNvSpPr/>
          <p:nvPr/>
        </p:nvSpPr>
        <p:spPr>
          <a:xfrm>
            <a:off x="7589520" y="5806440"/>
            <a:ext cx="2011680" cy="502920"/>
          </a:xfrm>
          <a:prstGeom prst="rect">
            <a:avLst/>
          </a:prstGeom>
          <a:noFill/>
          <a:ln/>
        </p:spPr>
        <p:txBody>
          <a:bodyPr wrap="square" lIns="0" tIns="0" rIns="0" bIns="0" rtlCol="0" anchor="ctr"/>
          <a:lstStyle/>
          <a:p>
            <a:pPr indent="0" marL="0">
              <a:buNone/>
            </a:pPr>
            <a:r>
              <a:rPr lang="en-US" sz="2400" b="1" dirty="0">
                <a:solidFill>
                  <a:srgbClr val="F59E0B"/>
                </a:solidFill>
                <a:latin typeface="Calibri" pitchFamily="34" charset="0"/>
                <a:ea typeface="Calibri" pitchFamily="34" charset="-122"/>
                <a:cs typeface="Calibri" pitchFamily="34" charset="-120"/>
              </a:rPr>
              <a:t>~140</a:t>
            </a:r>
            <a:endParaRPr lang="en-US" sz="2400" dirty="0"/>
          </a:p>
        </p:txBody>
      </p:sp>
      <p:sp>
        <p:nvSpPr>
          <p:cNvPr id="14" name="Text 12"/>
          <p:cNvSpPr/>
          <p:nvPr/>
        </p:nvSpPr>
        <p:spPr>
          <a:xfrm>
            <a:off x="7589520" y="6263640"/>
            <a:ext cx="2011680" cy="3657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countries</a:t>
            </a:r>
            <a:endParaRPr lang="en-US" sz="1200" dirty="0"/>
          </a:p>
        </p:txBody>
      </p:sp>
      <p:sp>
        <p:nvSpPr>
          <p:cNvPr id="15" name="Text 13"/>
          <p:cNvSpPr/>
          <p:nvPr/>
        </p:nvSpPr>
        <p:spPr>
          <a:xfrm>
            <a:off x="9875520" y="5806440"/>
            <a:ext cx="2011680" cy="502920"/>
          </a:xfrm>
          <a:prstGeom prst="rect">
            <a:avLst/>
          </a:prstGeom>
          <a:noFill/>
          <a:ln/>
        </p:spPr>
        <p:txBody>
          <a:bodyPr wrap="square" lIns="0" tIns="0" rIns="0" bIns="0" rtlCol="0" anchor="ctr"/>
          <a:lstStyle/>
          <a:p>
            <a:pPr indent="0" marL="0">
              <a:buNone/>
            </a:pPr>
            <a:r>
              <a:rPr lang="en-US" sz="2400" b="1" dirty="0">
                <a:solidFill>
                  <a:srgbClr val="F59E0B"/>
                </a:solidFill>
                <a:latin typeface="Calibri" pitchFamily="34" charset="0"/>
                <a:ea typeface="Calibri" pitchFamily="34" charset="-122"/>
                <a:cs typeface="Calibri" pitchFamily="34" charset="-120"/>
              </a:rPr>
              <a:t>43,000+</a:t>
            </a:r>
            <a:endParaRPr lang="en-US" sz="2400" dirty="0"/>
          </a:p>
        </p:txBody>
      </p:sp>
      <p:sp>
        <p:nvSpPr>
          <p:cNvPr id="16" name="Text 14"/>
          <p:cNvSpPr/>
          <p:nvPr/>
        </p:nvSpPr>
        <p:spPr>
          <a:xfrm>
            <a:off x="9875520" y="6263640"/>
            <a:ext cx="2011680" cy="3657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supply chain links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731520" y="365760"/>
            <a:ext cx="10698480" cy="731520"/>
          </a:xfrm>
          <a:prstGeom prst="rect">
            <a:avLst/>
          </a:prstGeom>
          <a:noFill/>
          <a:ln/>
        </p:spPr>
        <p:txBody>
          <a:bodyPr wrap="square" lIns="0" tIns="0" rIns="0" bIns="0" rtlCol="0" anchor="ctr"/>
          <a:lstStyle/>
          <a:p>
            <a:pPr indent="0" marL="0">
              <a:buNone/>
            </a:pPr>
            <a:r>
              <a:rPr lang="en-US" sz="3600" b="1" dirty="0">
                <a:solidFill>
                  <a:srgbClr val="E2E8F0"/>
                </a:solidFill>
                <a:latin typeface="Calibri" pitchFamily="34" charset="0"/>
                <a:ea typeface="Calibri" pitchFamily="34" charset="-122"/>
                <a:cs typeface="Calibri" pitchFamily="34" charset="-120"/>
              </a:rPr>
              <a:t>What is the STDN Explorer?</a:t>
            </a:r>
            <a:endParaRPr lang="en-US" sz="3600" dirty="0"/>
          </a:p>
        </p:txBody>
      </p:sp>
      <p:sp>
        <p:nvSpPr>
          <p:cNvPr id="3" name="Text 1"/>
          <p:cNvSpPr/>
          <p:nvPr/>
        </p:nvSpPr>
        <p:spPr>
          <a:xfrm>
            <a:off x="731520" y="1280160"/>
            <a:ext cx="10698480" cy="822960"/>
          </a:xfrm>
          <a:prstGeom prst="rect">
            <a:avLst/>
          </a:prstGeom>
          <a:noFill/>
          <a:ln/>
        </p:spPr>
        <p:txBody>
          <a:bodyPr wrap="square" lIns="0" tIns="0" rIns="0" bIns="0" rtlCol="0" anchor="ctr"/>
          <a:lstStyle/>
          <a:p>
            <a:pPr indent="0" marL="0">
              <a:buNone/>
            </a:pPr>
            <a:r>
              <a:rPr lang="en-US" sz="1600" dirty="0">
                <a:solidFill>
                  <a:srgbClr val="CBD5E1"/>
                </a:solidFill>
                <a:latin typeface="Calibri" pitchFamily="34" charset="0"/>
                <a:ea typeface="Calibri" pitchFamily="34" charset="-122"/>
                <a:cs typeface="Calibri" pitchFamily="34" charset="-120"/>
              </a:rPr>
              <a:t>A web dashboard for investigating supply chain vulnerabilities across technology sectors. It maps each technology down to its components, raw materials, and the countries that produce them.</a:t>
            </a:r>
            <a:endParaRPr lang="en-US" sz="1600" dirty="0"/>
          </a:p>
        </p:txBody>
      </p:sp>
      <p:sp>
        <p:nvSpPr>
          <p:cNvPr id="4" name="Shape 2"/>
          <p:cNvSpPr/>
          <p:nvPr/>
        </p:nvSpPr>
        <p:spPr>
          <a:xfrm>
            <a:off x="731520" y="2560320"/>
            <a:ext cx="3383280" cy="2560320"/>
          </a:xfrm>
          <a:prstGeom prst="rect">
            <a:avLst/>
          </a:prstGeom>
          <a:solidFill>
            <a:srgbClr val="1E293B"/>
          </a:solidFill>
          <a:ln w="19050">
            <a:solidFill>
              <a:srgbClr val="6366F1"/>
            </a:solidFill>
            <a:prstDash val="solid"/>
          </a:ln>
        </p:spPr>
      </p:sp>
      <p:sp>
        <p:nvSpPr>
          <p:cNvPr id="5" name="Shape 3"/>
          <p:cNvSpPr/>
          <p:nvPr/>
        </p:nvSpPr>
        <p:spPr>
          <a:xfrm>
            <a:off x="731520" y="2560320"/>
            <a:ext cx="54864" cy="2560320"/>
          </a:xfrm>
          <a:prstGeom prst="rect">
            <a:avLst/>
          </a:prstGeom>
          <a:solidFill>
            <a:srgbClr val="6366F1"/>
          </a:solidFill>
          <a:ln/>
        </p:spPr>
      </p:sp>
      <p:sp>
        <p:nvSpPr>
          <p:cNvPr id="6" name="Text 4"/>
          <p:cNvSpPr/>
          <p:nvPr/>
        </p:nvSpPr>
        <p:spPr>
          <a:xfrm>
            <a:off x="1005840" y="2743200"/>
            <a:ext cx="2834640" cy="457200"/>
          </a:xfrm>
          <a:prstGeom prst="rect">
            <a:avLst/>
          </a:prstGeom>
          <a:noFill/>
          <a:ln/>
        </p:spPr>
        <p:txBody>
          <a:bodyPr wrap="square" lIns="0" tIns="0" rIns="0" bIns="0" rtlCol="0" anchor="ctr"/>
          <a:lstStyle/>
          <a:p>
            <a:pPr indent="0" marL="0">
              <a:buNone/>
            </a:pPr>
            <a:r>
              <a:rPr lang="en-US" sz="1600" b="1" dirty="0">
                <a:solidFill>
                  <a:srgbClr val="6366F1"/>
                </a:solidFill>
                <a:latin typeface="Calibri" pitchFamily="34" charset="0"/>
                <a:ea typeface="Calibri" pitchFamily="34" charset="-122"/>
                <a:cs typeface="Calibri" pitchFamily="34" charset="-120"/>
              </a:rPr>
              <a:t>9 analytical views</a:t>
            </a:r>
            <a:endParaRPr lang="en-US" sz="1600" dirty="0"/>
          </a:p>
        </p:txBody>
      </p:sp>
      <p:sp>
        <p:nvSpPr>
          <p:cNvPr id="7" name="Text 5"/>
          <p:cNvSpPr/>
          <p:nvPr/>
        </p:nvSpPr>
        <p:spPr>
          <a:xfrm>
            <a:off x="1005840" y="3291840"/>
            <a:ext cx="2834640" cy="164592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Network graphs, heatmaps, country rankings, disruption simulators, trade flow analysis, and AI-assisted policy reports</a:t>
            </a:r>
            <a:endParaRPr lang="en-US" sz="1200" dirty="0"/>
          </a:p>
        </p:txBody>
      </p:sp>
      <p:sp>
        <p:nvSpPr>
          <p:cNvPr id="8" name="Shape 6"/>
          <p:cNvSpPr/>
          <p:nvPr/>
        </p:nvSpPr>
        <p:spPr>
          <a:xfrm>
            <a:off x="4389120" y="2560320"/>
            <a:ext cx="3383280" cy="2560320"/>
          </a:xfrm>
          <a:prstGeom prst="rect">
            <a:avLst/>
          </a:prstGeom>
          <a:solidFill>
            <a:srgbClr val="1E293B"/>
          </a:solidFill>
          <a:ln w="19050">
            <a:solidFill>
              <a:srgbClr val="22C55E"/>
            </a:solidFill>
            <a:prstDash val="solid"/>
          </a:ln>
        </p:spPr>
      </p:sp>
      <p:sp>
        <p:nvSpPr>
          <p:cNvPr id="9" name="Shape 7"/>
          <p:cNvSpPr/>
          <p:nvPr/>
        </p:nvSpPr>
        <p:spPr>
          <a:xfrm>
            <a:off x="4389120" y="2560320"/>
            <a:ext cx="54864" cy="2560320"/>
          </a:xfrm>
          <a:prstGeom prst="rect">
            <a:avLst/>
          </a:prstGeom>
          <a:solidFill>
            <a:srgbClr val="22C55E"/>
          </a:solidFill>
          <a:ln/>
        </p:spPr>
      </p:sp>
      <p:sp>
        <p:nvSpPr>
          <p:cNvPr id="10" name="Text 8"/>
          <p:cNvSpPr/>
          <p:nvPr/>
        </p:nvSpPr>
        <p:spPr>
          <a:xfrm>
            <a:off x="4663440" y="2743200"/>
            <a:ext cx="2834640" cy="457200"/>
          </a:xfrm>
          <a:prstGeom prst="rect">
            <a:avLst/>
          </a:prstGeom>
          <a:noFill/>
          <a:ln/>
        </p:spPr>
        <p:txBody>
          <a:bodyPr wrap="square" lIns="0" tIns="0" rIns="0" bIns="0" rtlCol="0" anchor="ctr"/>
          <a:lstStyle/>
          <a:p>
            <a:pPr indent="0" marL="0">
              <a:buNone/>
            </a:pPr>
            <a:r>
              <a:rPr lang="en-US" sz="1600" b="1" dirty="0">
                <a:solidFill>
                  <a:srgbClr val="22C55E"/>
                </a:solidFill>
                <a:latin typeface="Calibri" pitchFamily="34" charset="0"/>
                <a:ea typeface="Calibri" pitchFamily="34" charset="-122"/>
                <a:cs typeface="Calibri" pitchFamily="34" charset="-120"/>
              </a:rPr>
              <a:t>AI-generated data</a:t>
            </a:r>
            <a:endParaRPr lang="en-US" sz="1600" dirty="0"/>
          </a:p>
        </p:txBody>
      </p:sp>
      <p:sp>
        <p:nvSpPr>
          <p:cNvPr id="11" name="Text 9"/>
          <p:cNvSpPr/>
          <p:nvPr/>
        </p:nvSpPr>
        <p:spPr>
          <a:xfrm>
            <a:off x="4663440" y="3291840"/>
            <a:ext cx="2834640" cy="164592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Supply chain networks built by multi-agent debate in hours, not months. Grounded in USGS data with confidence scores on every row</a:t>
            </a:r>
            <a:endParaRPr lang="en-US" sz="1200" dirty="0"/>
          </a:p>
        </p:txBody>
      </p:sp>
      <p:sp>
        <p:nvSpPr>
          <p:cNvPr id="12" name="Shape 10"/>
          <p:cNvSpPr/>
          <p:nvPr/>
        </p:nvSpPr>
        <p:spPr>
          <a:xfrm>
            <a:off x="8046720" y="2560320"/>
            <a:ext cx="3383280" cy="2560320"/>
          </a:xfrm>
          <a:prstGeom prst="rect">
            <a:avLst/>
          </a:prstGeom>
          <a:solidFill>
            <a:srgbClr val="1E293B"/>
          </a:solidFill>
          <a:ln w="19050">
            <a:solidFill>
              <a:srgbClr val="F59E0B"/>
            </a:solidFill>
            <a:prstDash val="solid"/>
          </a:ln>
        </p:spPr>
      </p:sp>
      <p:sp>
        <p:nvSpPr>
          <p:cNvPr id="13" name="Shape 11"/>
          <p:cNvSpPr/>
          <p:nvPr/>
        </p:nvSpPr>
        <p:spPr>
          <a:xfrm>
            <a:off x="8046720" y="2560320"/>
            <a:ext cx="54864" cy="2560320"/>
          </a:xfrm>
          <a:prstGeom prst="rect">
            <a:avLst/>
          </a:prstGeom>
          <a:solidFill>
            <a:srgbClr val="F59E0B"/>
          </a:solidFill>
          <a:ln/>
        </p:spPr>
      </p:sp>
      <p:sp>
        <p:nvSpPr>
          <p:cNvPr id="14" name="Text 12"/>
          <p:cNvSpPr/>
          <p:nvPr/>
        </p:nvSpPr>
        <p:spPr>
          <a:xfrm>
            <a:off x="8321040" y="2743200"/>
            <a:ext cx="2834640" cy="457200"/>
          </a:xfrm>
          <a:prstGeom prst="rect">
            <a:avLst/>
          </a:prstGeom>
          <a:noFill/>
          <a:ln/>
        </p:spPr>
        <p:txBody>
          <a:bodyPr wrap="square" lIns="0" tIns="0" rIns="0" bIns="0"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Scalable by design</a:t>
            </a:r>
            <a:endParaRPr lang="en-US" sz="1600" dirty="0"/>
          </a:p>
        </p:txBody>
      </p:sp>
      <p:sp>
        <p:nvSpPr>
          <p:cNvPr id="15" name="Text 13"/>
          <p:cNvSpPr/>
          <p:nvPr/>
        </p:nvSpPr>
        <p:spPr>
          <a:xfrm>
            <a:off x="8321040" y="3291840"/>
            <a:ext cx="2834640" cy="164592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180 technologies across 3 domains as a sample. New domains and technologies added by loading CSV files, no code changes needed</a:t>
            </a:r>
            <a:endParaRPr lang="en-US" sz="1200" dirty="0"/>
          </a:p>
        </p:txBody>
      </p:sp>
      <p:sp>
        <p:nvSpPr>
          <p:cNvPr id="16" name="Text 14"/>
          <p:cNvSpPr/>
          <p:nvPr/>
        </p:nvSpPr>
        <p:spPr>
          <a:xfrm>
            <a:off x="731520" y="5669280"/>
            <a:ext cx="10698480" cy="457200"/>
          </a:xfrm>
          <a:prstGeom prst="rect">
            <a:avLst/>
          </a:prstGeom>
          <a:noFill/>
          <a:ln/>
        </p:spPr>
        <p:txBody>
          <a:bodyPr wrap="square" lIns="0" tIns="0" rIns="0" bIns="0"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Live at dads2busy.github.io/stdn-explorer — no installation required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731520" y="365760"/>
            <a:ext cx="10698480" cy="731520"/>
          </a:xfrm>
          <a:prstGeom prst="rect">
            <a:avLst/>
          </a:prstGeom>
          <a:noFill/>
          <a:ln/>
        </p:spPr>
        <p:txBody>
          <a:bodyPr wrap="square" lIns="0" tIns="0" rIns="0" bIns="0" rtlCol="0" anchor="ctr"/>
          <a:lstStyle/>
          <a:p>
            <a:pPr indent="0" marL="0">
              <a:buNone/>
            </a:pPr>
            <a:r>
              <a:rPr lang="en-US" sz="3600" b="1" dirty="0">
                <a:solidFill>
                  <a:srgbClr val="E2E8F0"/>
                </a:solidFill>
                <a:latin typeface="Calibri" pitchFamily="34" charset="0"/>
                <a:ea typeface="Calibri" pitchFamily="34" charset="-122"/>
                <a:cs typeface="Calibri" pitchFamily="34" charset="-120"/>
              </a:rPr>
              <a:t>What is an STDN?</a:t>
            </a:r>
            <a:endParaRPr lang="en-US" sz="3600" dirty="0"/>
          </a:p>
        </p:txBody>
      </p:sp>
      <p:sp>
        <p:nvSpPr>
          <p:cNvPr id="3" name="Shape 1"/>
          <p:cNvSpPr/>
          <p:nvPr/>
        </p:nvSpPr>
        <p:spPr>
          <a:xfrm>
            <a:off x="731520" y="1463040"/>
            <a:ext cx="2468880" cy="1463040"/>
          </a:xfrm>
          <a:prstGeom prst="rect">
            <a:avLst/>
          </a:prstGeom>
          <a:solidFill>
            <a:srgbClr val="1E293B"/>
          </a:solidFill>
          <a:ln w="19050">
            <a:solidFill>
              <a:srgbClr val="6366F1"/>
            </a:solidFill>
            <a:prstDash val="solid"/>
          </a:ln>
        </p:spPr>
      </p:sp>
      <p:sp>
        <p:nvSpPr>
          <p:cNvPr id="4" name="Text 2"/>
          <p:cNvSpPr/>
          <p:nvPr/>
        </p:nvSpPr>
        <p:spPr>
          <a:xfrm>
            <a:off x="731520" y="1554480"/>
            <a:ext cx="2468880" cy="548640"/>
          </a:xfrm>
          <a:prstGeom prst="rect">
            <a:avLst/>
          </a:prstGeom>
          <a:noFill/>
          <a:ln/>
        </p:spPr>
        <p:txBody>
          <a:bodyPr wrap="square" lIns="0" tIns="0" rIns="0" bIns="0" rtlCol="0" anchor="ctr"/>
          <a:lstStyle/>
          <a:p>
            <a:pPr algn="ctr" indent="0" marL="0">
              <a:buNone/>
            </a:pPr>
            <a:r>
              <a:rPr lang="en-US" sz="1800" b="1" dirty="0">
                <a:solidFill>
                  <a:srgbClr val="6366F1"/>
                </a:solidFill>
                <a:latin typeface="Calibri" pitchFamily="34" charset="0"/>
                <a:ea typeface="Calibri" pitchFamily="34" charset="-122"/>
                <a:cs typeface="Calibri" pitchFamily="34" charset="-120"/>
              </a:rPr>
              <a:t>Technology</a:t>
            </a:r>
            <a:endParaRPr lang="en-US" sz="1800" dirty="0"/>
          </a:p>
        </p:txBody>
      </p:sp>
      <p:sp>
        <p:nvSpPr>
          <p:cNvPr id="5" name="Text 3"/>
          <p:cNvSpPr/>
          <p:nvPr/>
        </p:nvSpPr>
        <p:spPr>
          <a:xfrm>
            <a:off x="914400" y="2103120"/>
            <a:ext cx="2103120" cy="64008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Smartphone, MRI Machine...</a:t>
            </a:r>
            <a:endParaRPr lang="en-US" sz="1100" dirty="0"/>
          </a:p>
        </p:txBody>
      </p:sp>
      <p:sp>
        <p:nvSpPr>
          <p:cNvPr id="6" name="Shape 4"/>
          <p:cNvSpPr/>
          <p:nvPr/>
        </p:nvSpPr>
        <p:spPr>
          <a:xfrm>
            <a:off x="3200400" y="2194560"/>
            <a:ext cx="274320" cy="0"/>
          </a:xfrm>
          <a:prstGeom prst="line">
            <a:avLst/>
          </a:prstGeom>
          <a:noFill/>
          <a:ln w="25400">
            <a:solidFill>
              <a:srgbClr val="94A3B8"/>
            </a:solidFill>
            <a:prstDash val="solid"/>
          </a:ln>
        </p:spPr>
      </p:sp>
      <p:sp>
        <p:nvSpPr>
          <p:cNvPr id="7" name="Shape 5"/>
          <p:cNvSpPr/>
          <p:nvPr/>
        </p:nvSpPr>
        <p:spPr>
          <a:xfrm>
            <a:off x="3474720" y="1463040"/>
            <a:ext cx="2468880" cy="1463040"/>
          </a:xfrm>
          <a:prstGeom prst="rect">
            <a:avLst/>
          </a:prstGeom>
          <a:solidFill>
            <a:srgbClr val="1E293B"/>
          </a:solidFill>
          <a:ln w="19050">
            <a:solidFill>
              <a:srgbClr val="22C55E"/>
            </a:solidFill>
            <a:prstDash val="solid"/>
          </a:ln>
        </p:spPr>
      </p:sp>
      <p:sp>
        <p:nvSpPr>
          <p:cNvPr id="8" name="Text 6"/>
          <p:cNvSpPr/>
          <p:nvPr/>
        </p:nvSpPr>
        <p:spPr>
          <a:xfrm>
            <a:off x="3474720" y="1554480"/>
            <a:ext cx="2468880" cy="548640"/>
          </a:xfrm>
          <a:prstGeom prst="rect">
            <a:avLst/>
          </a:prstGeom>
          <a:noFill/>
          <a:ln/>
        </p:spPr>
        <p:txBody>
          <a:bodyPr wrap="square" lIns="0" tIns="0" rIns="0" bIns="0" rtlCol="0" anchor="ctr"/>
          <a:lstStyle/>
          <a:p>
            <a:pPr algn="ctr" indent="0" marL="0">
              <a:buNone/>
            </a:pPr>
            <a:r>
              <a:rPr lang="en-US" sz="1800" b="1" dirty="0">
                <a:solidFill>
                  <a:srgbClr val="22C55E"/>
                </a:solidFill>
                <a:latin typeface="Calibri" pitchFamily="34" charset="0"/>
                <a:ea typeface="Calibri" pitchFamily="34" charset="-122"/>
                <a:cs typeface="Calibri" pitchFamily="34" charset="-120"/>
              </a:rPr>
              <a:t>Component</a:t>
            </a:r>
            <a:endParaRPr lang="en-US" sz="1800" dirty="0"/>
          </a:p>
        </p:txBody>
      </p:sp>
      <p:sp>
        <p:nvSpPr>
          <p:cNvPr id="9" name="Text 7"/>
          <p:cNvSpPr/>
          <p:nvPr/>
        </p:nvSpPr>
        <p:spPr>
          <a:xfrm>
            <a:off x="3657600" y="2103120"/>
            <a:ext cx="2103120" cy="64008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Display Module, Battery...</a:t>
            </a:r>
            <a:endParaRPr lang="en-US" sz="1100" dirty="0"/>
          </a:p>
        </p:txBody>
      </p:sp>
      <p:sp>
        <p:nvSpPr>
          <p:cNvPr id="10" name="Shape 8"/>
          <p:cNvSpPr/>
          <p:nvPr/>
        </p:nvSpPr>
        <p:spPr>
          <a:xfrm>
            <a:off x="5943600" y="2194560"/>
            <a:ext cx="274320" cy="0"/>
          </a:xfrm>
          <a:prstGeom prst="line">
            <a:avLst/>
          </a:prstGeom>
          <a:noFill/>
          <a:ln w="25400">
            <a:solidFill>
              <a:srgbClr val="94A3B8"/>
            </a:solidFill>
            <a:prstDash val="solid"/>
          </a:ln>
        </p:spPr>
      </p:sp>
      <p:sp>
        <p:nvSpPr>
          <p:cNvPr id="11" name="Shape 9"/>
          <p:cNvSpPr/>
          <p:nvPr/>
        </p:nvSpPr>
        <p:spPr>
          <a:xfrm>
            <a:off x="6217920" y="1463040"/>
            <a:ext cx="2468880" cy="1463040"/>
          </a:xfrm>
          <a:prstGeom prst="rect">
            <a:avLst/>
          </a:prstGeom>
          <a:solidFill>
            <a:srgbClr val="1E293B"/>
          </a:solidFill>
          <a:ln w="19050">
            <a:solidFill>
              <a:srgbClr val="F59E0B"/>
            </a:solidFill>
            <a:prstDash val="solid"/>
          </a:ln>
        </p:spPr>
      </p:sp>
      <p:sp>
        <p:nvSpPr>
          <p:cNvPr id="12" name="Text 10"/>
          <p:cNvSpPr/>
          <p:nvPr/>
        </p:nvSpPr>
        <p:spPr>
          <a:xfrm>
            <a:off x="6217920" y="1554480"/>
            <a:ext cx="2468880" cy="548640"/>
          </a:xfrm>
          <a:prstGeom prst="rect">
            <a:avLst/>
          </a:prstGeom>
          <a:noFill/>
          <a:ln/>
        </p:spPr>
        <p:txBody>
          <a:bodyPr wrap="square" lIns="0" tIns="0" rIns="0" bIns="0" rtlCol="0" anchor="ctr"/>
          <a:lstStyle/>
          <a:p>
            <a:pPr algn="ctr" indent="0" marL="0">
              <a:buNone/>
            </a:pPr>
            <a:r>
              <a:rPr lang="en-US" sz="1800" b="1" dirty="0">
                <a:solidFill>
                  <a:srgbClr val="F59E0B"/>
                </a:solidFill>
                <a:latin typeface="Calibri" pitchFamily="34" charset="0"/>
                <a:ea typeface="Calibri" pitchFamily="34" charset="-122"/>
                <a:cs typeface="Calibri" pitchFamily="34" charset="-120"/>
              </a:rPr>
              <a:t>Material</a:t>
            </a:r>
            <a:endParaRPr lang="en-US" sz="1800" dirty="0"/>
          </a:p>
        </p:txBody>
      </p:sp>
      <p:sp>
        <p:nvSpPr>
          <p:cNvPr id="13" name="Text 11"/>
          <p:cNvSpPr/>
          <p:nvPr/>
        </p:nvSpPr>
        <p:spPr>
          <a:xfrm>
            <a:off x="6400800" y="2103120"/>
            <a:ext cx="2103120" cy="64008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Indium, Cobalt, Helium...</a:t>
            </a:r>
            <a:endParaRPr lang="en-US" sz="1100" dirty="0"/>
          </a:p>
        </p:txBody>
      </p:sp>
      <p:sp>
        <p:nvSpPr>
          <p:cNvPr id="14" name="Shape 12"/>
          <p:cNvSpPr/>
          <p:nvPr/>
        </p:nvSpPr>
        <p:spPr>
          <a:xfrm>
            <a:off x="8686800" y="2194560"/>
            <a:ext cx="274320" cy="0"/>
          </a:xfrm>
          <a:prstGeom prst="line">
            <a:avLst/>
          </a:prstGeom>
          <a:noFill/>
          <a:ln w="25400">
            <a:solidFill>
              <a:srgbClr val="94A3B8"/>
            </a:solidFill>
            <a:prstDash val="solid"/>
          </a:ln>
        </p:spPr>
      </p:sp>
      <p:sp>
        <p:nvSpPr>
          <p:cNvPr id="15" name="Shape 13"/>
          <p:cNvSpPr/>
          <p:nvPr/>
        </p:nvSpPr>
        <p:spPr>
          <a:xfrm>
            <a:off x="8961120" y="1463040"/>
            <a:ext cx="2468880" cy="1463040"/>
          </a:xfrm>
          <a:prstGeom prst="rect">
            <a:avLst/>
          </a:prstGeom>
          <a:solidFill>
            <a:srgbClr val="1E293B"/>
          </a:solidFill>
          <a:ln w="19050">
            <a:solidFill>
              <a:srgbClr val="EF4444"/>
            </a:solidFill>
            <a:prstDash val="solid"/>
          </a:ln>
        </p:spPr>
      </p:sp>
      <p:sp>
        <p:nvSpPr>
          <p:cNvPr id="16" name="Text 14"/>
          <p:cNvSpPr/>
          <p:nvPr/>
        </p:nvSpPr>
        <p:spPr>
          <a:xfrm>
            <a:off x="8961120" y="1554480"/>
            <a:ext cx="2468880" cy="548640"/>
          </a:xfrm>
          <a:prstGeom prst="rect">
            <a:avLst/>
          </a:prstGeom>
          <a:noFill/>
          <a:ln/>
        </p:spPr>
        <p:txBody>
          <a:bodyPr wrap="square" lIns="0" tIns="0" rIns="0" bIns="0" rtlCol="0" anchor="ctr"/>
          <a:lstStyle/>
          <a:p>
            <a:pPr algn="ctr" indent="0" marL="0">
              <a:buNone/>
            </a:pPr>
            <a:r>
              <a:rPr lang="en-US" sz="1800" b="1" dirty="0">
                <a:solidFill>
                  <a:srgbClr val="EF4444"/>
                </a:solidFill>
                <a:latin typeface="Calibri" pitchFamily="34" charset="0"/>
                <a:ea typeface="Calibri" pitchFamily="34" charset="-122"/>
                <a:cs typeface="Calibri" pitchFamily="34" charset="-120"/>
              </a:rPr>
              <a:t>Country</a:t>
            </a:r>
            <a:endParaRPr lang="en-US" sz="1800" dirty="0"/>
          </a:p>
        </p:txBody>
      </p:sp>
      <p:sp>
        <p:nvSpPr>
          <p:cNvPr id="17" name="Text 15"/>
          <p:cNvSpPr/>
          <p:nvPr/>
        </p:nvSpPr>
        <p:spPr>
          <a:xfrm>
            <a:off x="9144000" y="2103120"/>
            <a:ext cx="2103120" cy="64008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China, Qatar, US...</a:t>
            </a:r>
            <a:endParaRPr lang="en-US" sz="1100" dirty="0"/>
          </a:p>
        </p:txBody>
      </p:sp>
      <p:sp>
        <p:nvSpPr>
          <p:cNvPr id="18" name="Text 16"/>
          <p:cNvSpPr/>
          <p:nvPr/>
        </p:nvSpPr>
        <p:spPr>
          <a:xfrm>
            <a:off x="731520" y="3474720"/>
            <a:ext cx="10698480" cy="2743200"/>
          </a:xfrm>
          <a:prstGeom prst="rect">
            <a:avLst/>
          </a:prstGeom>
          <a:noFill/>
          <a:ln/>
        </p:spPr>
        <p:txBody>
          <a:bodyPr wrap="square" rtlCol="0" anchor="ctr"/>
          <a:lstStyle/>
          <a:p>
            <a:pPr marL="342900" indent="-342900">
              <a:spcAft>
                <a:spcPts val="1000"/>
              </a:spcAft>
              <a:buSzPct val="100000"/>
              <a:buChar char="•"/>
            </a:pPr>
            <a:r>
              <a:rPr lang="en-US" sz="1600" dirty="0">
                <a:solidFill>
                  <a:srgbClr val="CBD5E1"/>
                </a:solidFill>
                <a:latin typeface="Calibri" pitchFamily="34" charset="0"/>
                <a:ea typeface="Calibri" pitchFamily="34" charset="-122"/>
                <a:cs typeface="Calibri" pitchFamily="34" charset="-120"/>
              </a:rPr>
              <a:t>180 technologies across 3 domains (demonstration sample)</a:t>
            </a:r>
            <a:endParaRPr lang="en-US" sz="1600" dirty="0"/>
          </a:p>
          <a:p>
            <a:pPr marL="342900" indent="-342900">
              <a:spcAft>
                <a:spcPts val="1000"/>
              </a:spcAft>
              <a:buSzPct val="100000"/>
              <a:buChar char="•"/>
            </a:pPr>
            <a:r>
              <a:rPr lang="en-US" sz="1600" dirty="0">
                <a:solidFill>
                  <a:srgbClr val="CBD5E1"/>
                </a:solidFill>
                <a:latin typeface="Calibri" pitchFamily="34" charset="0"/>
                <a:ea typeface="Calibri" pitchFamily="34" charset="-122"/>
                <a:cs typeface="Calibri" pitchFamily="34" charset="-120"/>
              </a:rPr>
              <a:t>Domain-agnostic: scales to hundreds of domains, thousands of technologies</a:t>
            </a:r>
            <a:endParaRPr lang="en-US" sz="1600" dirty="0"/>
          </a:p>
          <a:p>
            <a:pPr marL="342900" indent="-342900">
              <a:spcAft>
                <a:spcPts val="1000"/>
              </a:spcAft>
              <a:buSzPct val="100000"/>
              <a:buChar char="•"/>
            </a:pPr>
            <a:r>
              <a:rPr lang="en-US" sz="1600" dirty="0">
                <a:solidFill>
                  <a:srgbClr val="CBD5E1"/>
                </a:solidFill>
                <a:latin typeface="Calibri" pitchFamily="34" charset="0"/>
                <a:ea typeface="Calibri" pitchFamily="34" charset="-122"/>
                <a:cs typeface="Calibri" pitchFamily="34" charset="-120"/>
              </a:rPr>
              <a:t>New domains added by loading CSV files, no application changes needed</a:t>
            </a:r>
            <a:endParaRPr lang="en-US" sz="1600" dirty="0"/>
          </a:p>
          <a:p>
            <a:pPr marL="342900" indent="-342900">
              <a:spcAft>
                <a:spcPts val="1000"/>
              </a:spcAft>
              <a:buSzPct val="100000"/>
              <a:buChar char="•"/>
            </a:pPr>
            <a:r>
              <a:rPr lang="en-US" sz="1600" dirty="0">
                <a:solidFill>
                  <a:srgbClr val="CBD5E1"/>
                </a:solidFill>
                <a:latin typeface="Calibri" pitchFamily="34" charset="0"/>
                <a:ea typeface="Calibri" pitchFamily="34" charset="-122"/>
                <a:cs typeface="Calibri" pitchFamily="34" charset="-120"/>
              </a:rPr>
              <a:t>Every row carries confidence scores and USGS/LLM provenance tags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548640" y="365760"/>
            <a:ext cx="3840480" cy="640080"/>
          </a:xfrm>
          <a:prstGeom prst="rect">
            <a:avLst/>
          </a:prstGeom>
          <a:noFill/>
          <a:ln/>
        </p:spPr>
        <p:txBody>
          <a:bodyPr wrap="square" lIns="0" tIns="0" rIns="0" bIns="0" rtlCol="0" anchor="ctr"/>
          <a:lstStyle/>
          <a:p>
            <a:pPr indent="0" marL="0">
              <a:buNone/>
            </a:pPr>
            <a:r>
              <a:rPr lang="en-US" sz="2800" b="1" dirty="0">
                <a:solidFill>
                  <a:srgbClr val="E2E8F0"/>
                </a:solidFill>
                <a:latin typeface="Calibri" pitchFamily="34" charset="0"/>
                <a:ea typeface="Calibri" pitchFamily="34" charset="-122"/>
                <a:cs typeface="Calibri" pitchFamily="34" charset="-120"/>
              </a:rPr>
              <a:t>Material Network</a:t>
            </a:r>
            <a:endParaRPr lang="en-US" sz="2800" dirty="0"/>
          </a:p>
        </p:txBody>
      </p:sp>
      <p:sp>
        <p:nvSpPr>
          <p:cNvPr id="3" name="Text 1"/>
          <p:cNvSpPr/>
          <p:nvPr/>
        </p:nvSpPr>
        <p:spPr>
          <a:xfrm>
            <a:off x="548640" y="1097280"/>
            <a:ext cx="3840480" cy="1755648"/>
          </a:xfrm>
          <a:prstGeom prst="rect">
            <a:avLst/>
          </a:prstGeom>
          <a:noFill/>
          <a:ln/>
        </p:spPr>
        <p:txBody>
          <a:bodyPr wrap="square" lIns="0" tIns="0" rIns="0" bIns="0" rtlCol="0" anchor="t"/>
          <a:lstStyle/>
          <a:p>
            <a:pPr indent="0" marL="0">
              <a:buNone/>
            </a:pPr>
            <a:r>
              <a:rPr lang="en-US" sz="1600" dirty="0">
                <a:solidFill>
                  <a:srgbClr val="94A3B8"/>
                </a:solidFill>
                <a:latin typeface="Calibri" pitchFamily="34" charset="0"/>
                <a:ea typeface="Calibri" pitchFamily="34" charset="-122"/>
                <a:cs typeface="Calibri" pitchFamily="34" charset="-120"/>
              </a:rPr>
              <a:t>Select a material and see every technology that depends on it. The graph organizes dependencies by domain, subdomain, and technology. Click domains to drill in; double-click a technology to navigate to its full network.</a:t>
            </a:r>
            <a:endParaRPr lang="en-US" sz="1600" dirty="0"/>
          </a:p>
        </p:txBody>
      </p:sp>
      <p:sp>
        <p:nvSpPr>
          <p:cNvPr id="4" name="Text 2"/>
          <p:cNvSpPr/>
          <p:nvPr/>
        </p:nvSpPr>
        <p:spPr>
          <a:xfrm>
            <a:off x="548640" y="3035808"/>
            <a:ext cx="3840480" cy="320040"/>
          </a:xfrm>
          <a:prstGeom prst="rect">
            <a:avLst/>
          </a:prstGeom>
          <a:noFill/>
          <a:ln/>
        </p:spPr>
        <p:txBody>
          <a:bodyPr wrap="square" lIns="0" tIns="0" rIns="0" bIns="0" rtlCol="0" anchor="ctr"/>
          <a:lstStyle/>
          <a:p>
            <a:pPr indent="0" marL="0">
              <a:buNone/>
            </a:pPr>
            <a:r>
              <a:rPr lang="en-US" sz="1000" b="1" spc="300" kern="0" dirty="0">
                <a:solidFill>
                  <a:srgbClr val="F59E0B"/>
                </a:solidFill>
                <a:latin typeface="Calibri" pitchFamily="34" charset="0"/>
                <a:ea typeface="Calibri" pitchFamily="34" charset="-122"/>
                <a:cs typeface="Calibri" pitchFamily="34" charset="-120"/>
              </a:rPr>
              <a:t>HELIUM / QATAR</a:t>
            </a:r>
            <a:endParaRPr lang="en-US" sz="1000" dirty="0"/>
          </a:p>
        </p:txBody>
      </p:sp>
      <p:sp>
        <p:nvSpPr>
          <p:cNvPr id="5" name="Text 3"/>
          <p:cNvSpPr/>
          <p:nvPr/>
        </p:nvSpPr>
        <p:spPr>
          <a:xfrm>
            <a:off x="548640" y="3401568"/>
            <a:ext cx="3840480" cy="2999232"/>
          </a:xfrm>
          <a:prstGeom prst="rect">
            <a:avLst/>
          </a:prstGeom>
          <a:noFill/>
          <a:ln/>
        </p:spPr>
        <p:txBody>
          <a:bodyPr wrap="square" rtlCol="0" anchor="t"/>
          <a:lstStyle/>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Helium: 152 of 180 technologies across all 3 domains</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Spans microelectronics, biotech, and pharma</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Not a niche material; touches nearly everything</a:t>
            </a:r>
            <a:endParaRPr lang="en-US" sz="1300" dirty="0"/>
          </a:p>
        </p:txBody>
      </p:sp>
      <p:sp>
        <p:nvSpPr>
          <p:cNvPr id="6" name="Shape 4"/>
          <p:cNvSpPr/>
          <p:nvPr/>
        </p:nvSpPr>
        <p:spPr>
          <a:xfrm>
            <a:off x="4572000" y="457200"/>
            <a:ext cx="7315200" cy="4640580"/>
          </a:xfrm>
          <a:prstGeom prst="rect">
            <a:avLst/>
          </a:prstGeom>
          <a:solidFill>
            <a:srgbClr val="1E293B"/>
          </a:solidFill>
          <a:ln w="12700">
            <a:solidFill>
              <a:srgbClr val="334155"/>
            </a:solidFill>
            <a:prstDash val="solid"/>
          </a:ln>
        </p:spPr>
      </p:sp>
      <p:pic>
        <p:nvPicPr>
          <p:cNvPr id="7" name="Image 0" descr="/Users/ads7fg/git/stdn-explorer/docs/writeup_screenshots/07_material_network_helium.png">    </p:cNvPr>
          <p:cNvPicPr>
            <a:picLocks noChangeAspect="1"/>
          </p:cNvPicPr>
          <p:nvPr/>
        </p:nvPicPr>
        <p:blipFill>
          <a:blip r:embed="rId1"/>
          <a:srcRect l="0" r="0" t="0" b="0"/>
          <a:stretch/>
        </p:blipFill>
        <p:spPr>
          <a:xfrm>
            <a:off x="4663440" y="548640"/>
            <a:ext cx="7132320" cy="44577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548640" y="365760"/>
            <a:ext cx="3840480" cy="640080"/>
          </a:xfrm>
          <a:prstGeom prst="rect">
            <a:avLst/>
          </a:prstGeom>
          <a:noFill/>
          <a:ln/>
        </p:spPr>
        <p:txBody>
          <a:bodyPr wrap="square" lIns="0" tIns="0" rIns="0" bIns="0" rtlCol="0" anchor="ctr"/>
          <a:lstStyle/>
          <a:p>
            <a:pPr indent="0" marL="0">
              <a:buNone/>
            </a:pPr>
            <a:r>
              <a:rPr lang="en-US" sz="2800" b="1" dirty="0">
                <a:solidFill>
                  <a:srgbClr val="E2E8F0"/>
                </a:solidFill>
                <a:latin typeface="Calibri" pitchFamily="34" charset="0"/>
                <a:ea typeface="Calibri" pitchFamily="34" charset="-122"/>
                <a:cs typeface="Calibri" pitchFamily="34" charset="-120"/>
              </a:rPr>
              <a:t>Technology Network</a:t>
            </a:r>
            <a:endParaRPr lang="en-US" sz="2800" dirty="0"/>
          </a:p>
        </p:txBody>
      </p:sp>
      <p:sp>
        <p:nvSpPr>
          <p:cNvPr id="3" name="Text 1"/>
          <p:cNvSpPr/>
          <p:nvPr/>
        </p:nvSpPr>
        <p:spPr>
          <a:xfrm>
            <a:off x="548640" y="1097280"/>
            <a:ext cx="3840480" cy="1463040"/>
          </a:xfrm>
          <a:prstGeom prst="rect">
            <a:avLst/>
          </a:prstGeom>
          <a:noFill/>
          <a:ln/>
        </p:spPr>
        <p:txBody>
          <a:bodyPr wrap="square" lIns="0" tIns="0" rIns="0" bIns="0" rtlCol="0" anchor="t"/>
          <a:lstStyle/>
          <a:p>
            <a:pPr indent="0" marL="0">
              <a:buNone/>
            </a:pPr>
            <a:r>
              <a:rPr lang="en-US" sz="1600" dirty="0">
                <a:solidFill>
                  <a:srgbClr val="94A3B8"/>
                </a:solidFill>
                <a:latin typeface="Calibri" pitchFamily="34" charset="0"/>
                <a:ea typeface="Calibri" pitchFamily="34" charset="-122"/>
                <a:cs typeface="Calibri" pitchFamily="34" charset="-120"/>
              </a:rPr>
              <a:t>Four concentric rings map each technology's full supply chain. Click any node for production shares, confidence scores, and data provenance. Navigation buttons jump to related analytical views.</a:t>
            </a:r>
            <a:endParaRPr lang="en-US" sz="1600" dirty="0"/>
          </a:p>
        </p:txBody>
      </p:sp>
      <p:sp>
        <p:nvSpPr>
          <p:cNvPr id="4" name="Text 2"/>
          <p:cNvSpPr/>
          <p:nvPr/>
        </p:nvSpPr>
        <p:spPr>
          <a:xfrm>
            <a:off x="548640" y="2743200"/>
            <a:ext cx="3840480" cy="320040"/>
          </a:xfrm>
          <a:prstGeom prst="rect">
            <a:avLst/>
          </a:prstGeom>
          <a:noFill/>
          <a:ln/>
        </p:spPr>
        <p:txBody>
          <a:bodyPr wrap="square" lIns="0" tIns="0" rIns="0" bIns="0" rtlCol="0" anchor="ctr"/>
          <a:lstStyle/>
          <a:p>
            <a:pPr indent="0" marL="0">
              <a:buNone/>
            </a:pPr>
            <a:r>
              <a:rPr lang="en-US" sz="1000" b="1" spc="300" kern="0" dirty="0">
                <a:solidFill>
                  <a:srgbClr val="F59E0B"/>
                </a:solidFill>
                <a:latin typeface="Calibri" pitchFamily="34" charset="0"/>
                <a:ea typeface="Calibri" pitchFamily="34" charset="-122"/>
                <a:cs typeface="Calibri" pitchFamily="34" charset="-120"/>
              </a:rPr>
              <a:t>HELIUM / QATAR</a:t>
            </a:r>
            <a:endParaRPr lang="en-US" sz="1000" dirty="0"/>
          </a:p>
        </p:txBody>
      </p:sp>
      <p:sp>
        <p:nvSpPr>
          <p:cNvPr id="5" name="Text 3"/>
          <p:cNvSpPr/>
          <p:nvPr/>
        </p:nvSpPr>
        <p:spPr>
          <a:xfrm>
            <a:off x="548640" y="3108960"/>
            <a:ext cx="3840480" cy="3291840"/>
          </a:xfrm>
          <a:prstGeom prst="rect">
            <a:avLst/>
          </a:prstGeom>
          <a:noFill/>
          <a:ln/>
        </p:spPr>
        <p:txBody>
          <a:bodyPr wrap="square" rtlCol="0" anchor="t"/>
          <a:lstStyle/>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Helium appears as a purple process consumable node</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Used for leak testing, not in the final product</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Qatar holds 38.8% of global Helium production</a:t>
            </a:r>
            <a:endParaRPr lang="en-US" sz="1300" dirty="0"/>
          </a:p>
        </p:txBody>
      </p:sp>
      <p:sp>
        <p:nvSpPr>
          <p:cNvPr id="6" name="Shape 4"/>
          <p:cNvSpPr/>
          <p:nvPr/>
        </p:nvSpPr>
        <p:spPr>
          <a:xfrm>
            <a:off x="4572000" y="457200"/>
            <a:ext cx="7315200" cy="4640580"/>
          </a:xfrm>
          <a:prstGeom prst="rect">
            <a:avLst/>
          </a:prstGeom>
          <a:solidFill>
            <a:srgbClr val="1E293B"/>
          </a:solidFill>
          <a:ln w="12700">
            <a:solidFill>
              <a:srgbClr val="334155"/>
            </a:solidFill>
            <a:prstDash val="solid"/>
          </a:ln>
        </p:spPr>
      </p:sp>
      <p:pic>
        <p:nvPicPr>
          <p:cNvPr id="7" name="Image 0" descr="/Users/ads7fg/git/stdn-explorer/docs/writeup_screenshots/01_technology_network_smartphone.png">    </p:cNvPr>
          <p:cNvPicPr>
            <a:picLocks noChangeAspect="1"/>
          </p:cNvPicPr>
          <p:nvPr/>
        </p:nvPicPr>
        <p:blipFill>
          <a:blip r:embed="rId1"/>
          <a:srcRect l="0" r="0" t="0" b="0"/>
          <a:stretch/>
        </p:blipFill>
        <p:spPr>
          <a:xfrm>
            <a:off x="4663440" y="548640"/>
            <a:ext cx="7132320" cy="44577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548640" y="365760"/>
            <a:ext cx="3840480" cy="640080"/>
          </a:xfrm>
          <a:prstGeom prst="rect">
            <a:avLst/>
          </a:prstGeom>
          <a:noFill/>
          <a:ln/>
        </p:spPr>
        <p:txBody>
          <a:bodyPr wrap="square" lIns="0" tIns="0" rIns="0" bIns="0" rtlCol="0" anchor="ctr"/>
          <a:lstStyle/>
          <a:p>
            <a:pPr indent="0" marL="0">
              <a:buNone/>
            </a:pPr>
            <a:r>
              <a:rPr lang="en-US" sz="2800" b="1" dirty="0">
                <a:solidFill>
                  <a:srgbClr val="E2E8F0"/>
                </a:solidFill>
                <a:latin typeface="Calibri" pitchFamily="34" charset="0"/>
                <a:ea typeface="Calibri" pitchFamily="34" charset="-122"/>
                <a:cs typeface="Calibri" pitchFamily="34" charset="-120"/>
              </a:rPr>
              <a:t>Concentration (HHI)</a:t>
            </a:r>
            <a:endParaRPr lang="en-US" sz="2800" dirty="0"/>
          </a:p>
        </p:txBody>
      </p:sp>
      <p:sp>
        <p:nvSpPr>
          <p:cNvPr id="3" name="Text 1"/>
          <p:cNvSpPr/>
          <p:nvPr/>
        </p:nvSpPr>
        <p:spPr>
          <a:xfrm>
            <a:off x="548640" y="1097280"/>
            <a:ext cx="3840480" cy="1755648"/>
          </a:xfrm>
          <a:prstGeom prst="rect">
            <a:avLst/>
          </a:prstGeom>
          <a:noFill/>
          <a:ln/>
        </p:spPr>
        <p:txBody>
          <a:bodyPr wrap="square" lIns="0" tIns="0" rIns="0" bIns="0" rtlCol="0" anchor="t"/>
          <a:lstStyle/>
          <a:p>
            <a:pPr indent="0" marL="0">
              <a:buNone/>
            </a:pPr>
            <a:r>
              <a:rPr lang="en-US" sz="1600" dirty="0">
                <a:solidFill>
                  <a:srgbClr val="94A3B8"/>
                </a:solidFill>
                <a:latin typeface="Calibri" pitchFamily="34" charset="0"/>
                <a:ea typeface="Calibri" pitchFamily="34" charset="-122"/>
                <a:cs typeface="Calibri" pitchFamily="34" charset="-120"/>
              </a:rPr>
              <a:t>Herfindahl-Hirschman Index measures how concentrated each material's production is among countries. The heatmap shows HHI per material-technology pair, color coded from green (diversified) to red (near-monopoly).</a:t>
            </a:r>
            <a:endParaRPr lang="en-US" sz="1600" dirty="0"/>
          </a:p>
        </p:txBody>
      </p:sp>
      <p:sp>
        <p:nvSpPr>
          <p:cNvPr id="4" name="Text 2"/>
          <p:cNvSpPr/>
          <p:nvPr/>
        </p:nvSpPr>
        <p:spPr>
          <a:xfrm>
            <a:off x="548640" y="3035808"/>
            <a:ext cx="3840480" cy="320040"/>
          </a:xfrm>
          <a:prstGeom prst="rect">
            <a:avLst/>
          </a:prstGeom>
          <a:noFill/>
          <a:ln/>
        </p:spPr>
        <p:txBody>
          <a:bodyPr wrap="square" lIns="0" tIns="0" rIns="0" bIns="0" rtlCol="0" anchor="ctr"/>
          <a:lstStyle/>
          <a:p>
            <a:pPr indent="0" marL="0">
              <a:buNone/>
            </a:pPr>
            <a:r>
              <a:rPr lang="en-US" sz="1000" b="1" spc="300" kern="0" dirty="0">
                <a:solidFill>
                  <a:srgbClr val="F59E0B"/>
                </a:solidFill>
                <a:latin typeface="Calibri" pitchFamily="34" charset="0"/>
                <a:ea typeface="Calibri" pitchFamily="34" charset="-122"/>
                <a:cs typeface="Calibri" pitchFamily="34" charset="-120"/>
              </a:rPr>
              <a:t>HELIUM / QATAR</a:t>
            </a:r>
            <a:endParaRPr lang="en-US" sz="1000" dirty="0"/>
          </a:p>
        </p:txBody>
      </p:sp>
      <p:sp>
        <p:nvSpPr>
          <p:cNvPr id="5" name="Text 3"/>
          <p:cNvSpPr/>
          <p:nvPr/>
        </p:nvSpPr>
        <p:spPr>
          <a:xfrm>
            <a:off x="548640" y="3401568"/>
            <a:ext cx="3840480" cy="2999232"/>
          </a:xfrm>
          <a:prstGeom prst="rect">
            <a:avLst/>
          </a:prstGeom>
          <a:noFill/>
          <a:ln/>
        </p:spPr>
        <p:txBody>
          <a:bodyPr wrap="square" rtlCol="0" anchor="t"/>
          <a:lstStyle/>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Helium HHI: 2,815 (high concentration)</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Qatar 38.8%, US 35.3%, Algeria 5.9%</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Top two hold over 74% of global output</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A 40% cut to Qatar removes ~15.5% of world supply</a:t>
            </a:r>
            <a:endParaRPr lang="en-US" sz="1300" dirty="0"/>
          </a:p>
        </p:txBody>
      </p:sp>
      <p:sp>
        <p:nvSpPr>
          <p:cNvPr id="6" name="Shape 4"/>
          <p:cNvSpPr/>
          <p:nvPr/>
        </p:nvSpPr>
        <p:spPr>
          <a:xfrm>
            <a:off x="4572000" y="457200"/>
            <a:ext cx="7315200" cy="4640580"/>
          </a:xfrm>
          <a:prstGeom prst="rect">
            <a:avLst/>
          </a:prstGeom>
          <a:solidFill>
            <a:srgbClr val="1E293B"/>
          </a:solidFill>
          <a:ln w="12700">
            <a:solidFill>
              <a:srgbClr val="334155"/>
            </a:solidFill>
            <a:prstDash val="solid"/>
          </a:ln>
        </p:spPr>
      </p:sp>
      <p:pic>
        <p:nvPicPr>
          <p:cNvPr id="7" name="Image 0" descr="/Users/ads7fg/git/stdn-explorer/docs/writeup_screenshots/02_concentration_heatmap.png">    </p:cNvPr>
          <p:cNvPicPr>
            <a:picLocks noChangeAspect="1"/>
          </p:cNvPicPr>
          <p:nvPr/>
        </p:nvPicPr>
        <p:blipFill>
          <a:blip r:embed="rId1"/>
          <a:srcRect l="0" r="0" t="0" b="0"/>
          <a:stretch/>
        </p:blipFill>
        <p:spPr>
          <a:xfrm>
            <a:off x="4663440" y="548640"/>
            <a:ext cx="7132320" cy="44577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548640" y="365760"/>
            <a:ext cx="3840480" cy="640080"/>
          </a:xfrm>
          <a:prstGeom prst="rect">
            <a:avLst/>
          </a:prstGeom>
          <a:noFill/>
          <a:ln/>
        </p:spPr>
        <p:txBody>
          <a:bodyPr wrap="square" lIns="0" tIns="0" rIns="0" bIns="0" rtlCol="0" anchor="ctr"/>
          <a:lstStyle/>
          <a:p>
            <a:pPr indent="0" marL="0">
              <a:buNone/>
            </a:pPr>
            <a:r>
              <a:rPr lang="en-US" sz="2800" b="1" dirty="0">
                <a:solidFill>
                  <a:srgbClr val="E2E8F0"/>
                </a:solidFill>
                <a:latin typeface="Calibri" pitchFamily="34" charset="0"/>
                <a:ea typeface="Calibri" pitchFamily="34" charset="-122"/>
                <a:cs typeface="Calibri" pitchFamily="34" charset="-120"/>
              </a:rPr>
              <a:t>Country Dominance</a:t>
            </a:r>
            <a:endParaRPr lang="en-US" sz="2800" dirty="0"/>
          </a:p>
        </p:txBody>
      </p:sp>
      <p:sp>
        <p:nvSpPr>
          <p:cNvPr id="3" name="Text 1"/>
          <p:cNvSpPr/>
          <p:nvPr/>
        </p:nvSpPr>
        <p:spPr>
          <a:xfrm>
            <a:off x="548640" y="1097280"/>
            <a:ext cx="3840480" cy="1463040"/>
          </a:xfrm>
          <a:prstGeom prst="rect">
            <a:avLst/>
          </a:prstGeom>
          <a:noFill/>
          <a:ln/>
        </p:spPr>
        <p:txBody>
          <a:bodyPr wrap="square" lIns="0" tIns="0" rIns="0" bIns="0" rtlCol="0" anchor="t"/>
          <a:lstStyle/>
          <a:p>
            <a:pPr indent="0" marL="0">
              <a:buNone/>
            </a:pPr>
            <a:r>
              <a:rPr lang="en-US" sz="1600" dirty="0">
                <a:solidFill>
                  <a:srgbClr val="94A3B8"/>
                </a:solidFill>
                <a:latin typeface="Calibri" pitchFamily="34" charset="0"/>
                <a:ea typeface="Calibri" pitchFamily="34" charset="-122"/>
                <a:cs typeface="Calibri" pitchFamily="34" charset="-120"/>
              </a:rPr>
              <a:t>Ranks countries by the number of materials for which they are the world's top producer. China leads with 746 materials, the United States with 166, Japan with 8.</a:t>
            </a:r>
            <a:endParaRPr lang="en-US" sz="1600" dirty="0"/>
          </a:p>
        </p:txBody>
      </p:sp>
      <p:sp>
        <p:nvSpPr>
          <p:cNvPr id="4" name="Text 2"/>
          <p:cNvSpPr/>
          <p:nvPr/>
        </p:nvSpPr>
        <p:spPr>
          <a:xfrm>
            <a:off x="548640" y="2743200"/>
            <a:ext cx="3840480" cy="320040"/>
          </a:xfrm>
          <a:prstGeom prst="rect">
            <a:avLst/>
          </a:prstGeom>
          <a:noFill/>
          <a:ln/>
        </p:spPr>
        <p:txBody>
          <a:bodyPr wrap="square" lIns="0" tIns="0" rIns="0" bIns="0" rtlCol="0" anchor="ctr"/>
          <a:lstStyle/>
          <a:p>
            <a:pPr indent="0" marL="0">
              <a:buNone/>
            </a:pPr>
            <a:r>
              <a:rPr lang="en-US" sz="1000" b="1" spc="300" kern="0" dirty="0">
                <a:solidFill>
                  <a:srgbClr val="F59E0B"/>
                </a:solidFill>
                <a:latin typeface="Calibri" pitchFamily="34" charset="0"/>
                <a:ea typeface="Calibri" pitchFamily="34" charset="-122"/>
                <a:cs typeface="Calibri" pitchFamily="34" charset="-120"/>
              </a:rPr>
              <a:t>HELIUM / QATAR</a:t>
            </a:r>
            <a:endParaRPr lang="en-US" sz="1000" dirty="0"/>
          </a:p>
        </p:txBody>
      </p:sp>
      <p:sp>
        <p:nvSpPr>
          <p:cNvPr id="5" name="Text 3"/>
          <p:cNvSpPr/>
          <p:nvPr/>
        </p:nvSpPr>
        <p:spPr>
          <a:xfrm>
            <a:off x="548640" y="3108960"/>
            <a:ext cx="3840480" cy="3291840"/>
          </a:xfrm>
          <a:prstGeom prst="rect">
            <a:avLst/>
          </a:prstGeom>
          <a:noFill/>
          <a:ln/>
        </p:spPr>
        <p:txBody>
          <a:bodyPr wrap="square" rtlCol="0" anchor="t"/>
          <a:lstStyle/>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Qatar: Low dominance, leads in just one material</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But that one material touches 173 technologies</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Average share: 36.2%</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Narrow but deep: one material, nearly every technology</a:t>
            </a:r>
            <a:endParaRPr lang="en-US" sz="1300" dirty="0"/>
          </a:p>
        </p:txBody>
      </p:sp>
      <p:sp>
        <p:nvSpPr>
          <p:cNvPr id="6" name="Shape 4"/>
          <p:cNvSpPr/>
          <p:nvPr/>
        </p:nvSpPr>
        <p:spPr>
          <a:xfrm>
            <a:off x="4572000" y="457200"/>
            <a:ext cx="7315200" cy="4640580"/>
          </a:xfrm>
          <a:prstGeom prst="rect">
            <a:avLst/>
          </a:prstGeom>
          <a:solidFill>
            <a:srgbClr val="1E293B"/>
          </a:solidFill>
          <a:ln w="12700">
            <a:solidFill>
              <a:srgbClr val="334155"/>
            </a:solidFill>
            <a:prstDash val="solid"/>
          </a:ln>
        </p:spPr>
      </p:sp>
      <p:pic>
        <p:nvPicPr>
          <p:cNvPr id="7" name="Image 0" descr="/Users/ads7fg/git/stdn-explorer/docs/writeup_screenshots/03_dominance_table.png">    </p:cNvPr>
          <p:cNvPicPr>
            <a:picLocks noChangeAspect="1"/>
          </p:cNvPicPr>
          <p:nvPr/>
        </p:nvPicPr>
        <p:blipFill>
          <a:blip r:embed="rId1"/>
          <a:srcRect l="0" r="0" t="0" b="0"/>
          <a:stretch/>
        </p:blipFill>
        <p:spPr>
          <a:xfrm>
            <a:off x="4663440" y="548640"/>
            <a:ext cx="7132320" cy="44577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548640" y="365760"/>
            <a:ext cx="3840480" cy="640080"/>
          </a:xfrm>
          <a:prstGeom prst="rect">
            <a:avLst/>
          </a:prstGeom>
          <a:noFill/>
          <a:ln/>
        </p:spPr>
        <p:txBody>
          <a:bodyPr wrap="square" lIns="0" tIns="0" rIns="0" bIns="0" rtlCol="0" anchor="ctr"/>
          <a:lstStyle/>
          <a:p>
            <a:pPr indent="0" marL="0">
              <a:buNone/>
            </a:pPr>
            <a:r>
              <a:rPr lang="en-US" sz="2800" b="1" dirty="0">
                <a:solidFill>
                  <a:srgbClr val="E2E8F0"/>
                </a:solidFill>
                <a:latin typeface="Calibri" pitchFamily="34" charset="0"/>
                <a:ea typeface="Calibri" pitchFamily="34" charset="-122"/>
                <a:cs typeface="Calibri" pitchFamily="34" charset="-120"/>
              </a:rPr>
              <a:t>Cross-Technology Overlap</a:t>
            </a:r>
            <a:endParaRPr lang="en-US" sz="2800" dirty="0"/>
          </a:p>
        </p:txBody>
      </p:sp>
      <p:sp>
        <p:nvSpPr>
          <p:cNvPr id="3" name="Text 1"/>
          <p:cNvSpPr/>
          <p:nvPr/>
        </p:nvSpPr>
        <p:spPr>
          <a:xfrm>
            <a:off x="548640" y="1097280"/>
            <a:ext cx="3840480" cy="2048256"/>
          </a:xfrm>
          <a:prstGeom prst="rect">
            <a:avLst/>
          </a:prstGeom>
          <a:noFill/>
          <a:ln/>
        </p:spPr>
        <p:txBody>
          <a:bodyPr wrap="square" lIns="0" tIns="0" rIns="0" bIns="0" rtlCol="0" anchor="t"/>
          <a:lstStyle/>
          <a:p>
            <a:pPr indent="0" marL="0">
              <a:buNone/>
            </a:pPr>
            <a:r>
              <a:rPr lang="en-US" sz="1600" dirty="0">
                <a:solidFill>
                  <a:srgbClr val="94A3B8"/>
                </a:solidFill>
                <a:latin typeface="Calibri" pitchFamily="34" charset="0"/>
                <a:ea typeface="Calibri" pitchFamily="34" charset="-122"/>
                <a:cs typeface="Calibri" pitchFamily="34" charset="-120"/>
              </a:rPr>
              <a:t>Identifies materials and countries shared across many technologies, where a single disruption propagates widely. Shared Materials tab lists materials by technology count; Shared Countries tab shows which countries supply the most technologies.</a:t>
            </a:r>
            <a:endParaRPr lang="en-US" sz="1600" dirty="0"/>
          </a:p>
        </p:txBody>
      </p:sp>
      <p:sp>
        <p:nvSpPr>
          <p:cNvPr id="4" name="Text 2"/>
          <p:cNvSpPr/>
          <p:nvPr/>
        </p:nvSpPr>
        <p:spPr>
          <a:xfrm>
            <a:off x="548640" y="3328416"/>
            <a:ext cx="3840480" cy="320040"/>
          </a:xfrm>
          <a:prstGeom prst="rect">
            <a:avLst/>
          </a:prstGeom>
          <a:noFill/>
          <a:ln/>
        </p:spPr>
        <p:txBody>
          <a:bodyPr wrap="square" lIns="0" tIns="0" rIns="0" bIns="0" rtlCol="0" anchor="ctr"/>
          <a:lstStyle/>
          <a:p>
            <a:pPr indent="0" marL="0">
              <a:buNone/>
            </a:pPr>
            <a:r>
              <a:rPr lang="en-US" sz="1000" b="1" spc="300" kern="0" dirty="0">
                <a:solidFill>
                  <a:srgbClr val="F59E0B"/>
                </a:solidFill>
                <a:latin typeface="Calibri" pitchFamily="34" charset="0"/>
                <a:ea typeface="Calibri" pitchFamily="34" charset="-122"/>
                <a:cs typeface="Calibri" pitchFamily="34" charset="-120"/>
              </a:rPr>
              <a:t>HELIUM / QATAR</a:t>
            </a:r>
            <a:endParaRPr lang="en-US" sz="1000" dirty="0"/>
          </a:p>
        </p:txBody>
      </p:sp>
      <p:sp>
        <p:nvSpPr>
          <p:cNvPr id="5" name="Text 3"/>
          <p:cNvSpPr/>
          <p:nvPr/>
        </p:nvSpPr>
        <p:spPr>
          <a:xfrm>
            <a:off x="548640" y="3694176"/>
            <a:ext cx="3840480" cy="2706624"/>
          </a:xfrm>
          <a:prstGeom prst="rect">
            <a:avLst/>
          </a:prstGeom>
          <a:noFill/>
          <a:ln/>
        </p:spPr>
        <p:txBody>
          <a:bodyPr wrap="square" rtlCol="0" anchor="t"/>
          <a:lstStyle/>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Helium: 3rd most shared material, in 152 technologies</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Qatar: 173 technologies through only 10 materials</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Compare: China touches 180 through 920 materials</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A disruption hits 152 technologies in parallel</a:t>
            </a:r>
            <a:endParaRPr lang="en-US" sz="1300" dirty="0"/>
          </a:p>
        </p:txBody>
      </p:sp>
      <p:sp>
        <p:nvSpPr>
          <p:cNvPr id="6" name="Shape 4"/>
          <p:cNvSpPr/>
          <p:nvPr/>
        </p:nvSpPr>
        <p:spPr>
          <a:xfrm>
            <a:off x="4572000" y="457200"/>
            <a:ext cx="7315200" cy="4640580"/>
          </a:xfrm>
          <a:prstGeom prst="rect">
            <a:avLst/>
          </a:prstGeom>
          <a:solidFill>
            <a:srgbClr val="1E293B"/>
          </a:solidFill>
          <a:ln w="12700">
            <a:solidFill>
              <a:srgbClr val="334155"/>
            </a:solidFill>
            <a:prstDash val="solid"/>
          </a:ln>
        </p:spPr>
      </p:sp>
      <p:pic>
        <p:nvPicPr>
          <p:cNvPr id="7" name="Image 0" descr="/Users/ads7fg/git/stdn-explorer/docs/writeup_screenshots/04_overlap_systemic_risk.png">    </p:cNvPr>
          <p:cNvPicPr>
            <a:picLocks noChangeAspect="1"/>
          </p:cNvPicPr>
          <p:nvPr/>
        </p:nvPicPr>
        <p:blipFill>
          <a:blip r:embed="rId1"/>
          <a:srcRect l="0" r="0" t="0" b="0"/>
          <a:stretch/>
        </p:blipFill>
        <p:spPr>
          <a:xfrm>
            <a:off x="4663440" y="548640"/>
            <a:ext cx="7132320" cy="44577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548640" y="365760"/>
            <a:ext cx="3840480" cy="640080"/>
          </a:xfrm>
          <a:prstGeom prst="rect">
            <a:avLst/>
          </a:prstGeom>
          <a:noFill/>
          <a:ln/>
        </p:spPr>
        <p:txBody>
          <a:bodyPr wrap="square" lIns="0" tIns="0" rIns="0" bIns="0" rtlCol="0" anchor="ctr"/>
          <a:lstStyle/>
          <a:p>
            <a:pPr indent="0" marL="0">
              <a:buNone/>
            </a:pPr>
            <a:r>
              <a:rPr lang="en-US" sz="2800" b="1" dirty="0">
                <a:solidFill>
                  <a:srgbClr val="E2E8F0"/>
                </a:solidFill>
                <a:latin typeface="Calibri" pitchFamily="34" charset="0"/>
                <a:ea typeface="Calibri" pitchFamily="34" charset="-122"/>
                <a:cs typeface="Calibri" pitchFamily="34" charset="-120"/>
              </a:rPr>
              <a:t>Supply Disruption</a:t>
            </a:r>
            <a:endParaRPr lang="en-US" sz="2800" dirty="0"/>
          </a:p>
        </p:txBody>
      </p:sp>
      <p:sp>
        <p:nvSpPr>
          <p:cNvPr id="3" name="Text 1"/>
          <p:cNvSpPr/>
          <p:nvPr/>
        </p:nvSpPr>
        <p:spPr>
          <a:xfrm>
            <a:off x="548640" y="1097280"/>
            <a:ext cx="3840480" cy="1463040"/>
          </a:xfrm>
          <a:prstGeom prst="rect">
            <a:avLst/>
          </a:prstGeom>
          <a:noFill/>
          <a:ln/>
        </p:spPr>
        <p:txBody>
          <a:bodyPr wrap="square" lIns="0" tIns="0" rIns="0" bIns="0" rtlCol="0" anchor="t"/>
          <a:lstStyle/>
          <a:p>
            <a:pPr indent="0" marL="0">
              <a:buNone/>
            </a:pPr>
            <a:r>
              <a:rPr lang="en-US" sz="1600" dirty="0">
                <a:solidFill>
                  <a:srgbClr val="94A3B8"/>
                </a:solidFill>
                <a:latin typeface="Calibri" pitchFamily="34" charset="0"/>
                <a:ea typeface="Calibri" pitchFamily="34" charset="-122"/>
                <a:cs typeface="Calibri" pitchFamily="34" charset="-120"/>
              </a:rPr>
              <a:t>Simulates the impact of a country ceasing all production. Shows affected technologies by severity (Critical/High/Moderate/Low). Expand rows to see specific materials and components at risk.</a:t>
            </a:r>
            <a:endParaRPr lang="en-US" sz="1600" dirty="0"/>
          </a:p>
        </p:txBody>
      </p:sp>
      <p:sp>
        <p:nvSpPr>
          <p:cNvPr id="4" name="Text 2"/>
          <p:cNvSpPr/>
          <p:nvPr/>
        </p:nvSpPr>
        <p:spPr>
          <a:xfrm>
            <a:off x="548640" y="2743200"/>
            <a:ext cx="3840480" cy="320040"/>
          </a:xfrm>
          <a:prstGeom prst="rect">
            <a:avLst/>
          </a:prstGeom>
          <a:noFill/>
          <a:ln/>
        </p:spPr>
        <p:txBody>
          <a:bodyPr wrap="square" lIns="0" tIns="0" rIns="0" bIns="0" rtlCol="0" anchor="ctr"/>
          <a:lstStyle/>
          <a:p>
            <a:pPr indent="0" marL="0">
              <a:buNone/>
            </a:pPr>
            <a:r>
              <a:rPr lang="en-US" sz="1000" b="1" spc="300" kern="0" dirty="0">
                <a:solidFill>
                  <a:srgbClr val="F59E0B"/>
                </a:solidFill>
                <a:latin typeface="Calibri" pitchFamily="34" charset="0"/>
                <a:ea typeface="Calibri" pitchFamily="34" charset="-122"/>
                <a:cs typeface="Calibri" pitchFamily="34" charset="-120"/>
              </a:rPr>
              <a:t>HELIUM / QATAR</a:t>
            </a:r>
            <a:endParaRPr lang="en-US" sz="1000" dirty="0"/>
          </a:p>
        </p:txBody>
      </p:sp>
      <p:sp>
        <p:nvSpPr>
          <p:cNvPr id="5" name="Text 3"/>
          <p:cNvSpPr/>
          <p:nvPr/>
        </p:nvSpPr>
        <p:spPr>
          <a:xfrm>
            <a:off x="548640" y="3108960"/>
            <a:ext cx="3840480" cy="3291840"/>
          </a:xfrm>
          <a:prstGeom prst="rect">
            <a:avLst/>
          </a:prstGeom>
          <a:noFill/>
          <a:ln/>
        </p:spPr>
        <p:txBody>
          <a:bodyPr wrap="square" rtlCol="0" anchor="t"/>
          <a:lstStyle/>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Qatar: 0 Critical, 152 High, 173 total affected</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Every Helium-dependent technology gets High severity</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38.8% maximum share lost</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For a 40% partial reduction, scale proportionally</a:t>
            </a:r>
            <a:endParaRPr lang="en-US" sz="1300" dirty="0"/>
          </a:p>
        </p:txBody>
      </p:sp>
      <p:sp>
        <p:nvSpPr>
          <p:cNvPr id="6" name="Shape 4"/>
          <p:cNvSpPr/>
          <p:nvPr/>
        </p:nvSpPr>
        <p:spPr>
          <a:xfrm>
            <a:off x="4572000" y="457200"/>
            <a:ext cx="7315200" cy="4640580"/>
          </a:xfrm>
          <a:prstGeom prst="rect">
            <a:avLst/>
          </a:prstGeom>
          <a:solidFill>
            <a:srgbClr val="1E293B"/>
          </a:solidFill>
          <a:ln w="12700">
            <a:solidFill>
              <a:srgbClr val="334155"/>
            </a:solidFill>
            <a:prstDash val="solid"/>
          </a:ln>
        </p:spPr>
      </p:sp>
      <p:pic>
        <p:nvPicPr>
          <p:cNvPr id="7" name="Image 0" descr="/Users/ads7fg/git/stdn-explorer/docs/writeup_screenshots/05_disruption_qatar.png">    </p:cNvPr>
          <p:cNvPicPr>
            <a:picLocks noChangeAspect="1"/>
          </p:cNvPicPr>
          <p:nvPr/>
        </p:nvPicPr>
        <p:blipFill>
          <a:blip r:embed="rId1"/>
          <a:srcRect l="0" r="0" t="0" b="0"/>
          <a:stretch/>
        </p:blipFill>
        <p:spPr>
          <a:xfrm>
            <a:off x="4663440" y="548640"/>
            <a:ext cx="7132320" cy="44577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548640" y="365760"/>
            <a:ext cx="3840480" cy="640080"/>
          </a:xfrm>
          <a:prstGeom prst="rect">
            <a:avLst/>
          </a:prstGeom>
          <a:noFill/>
          <a:ln/>
        </p:spPr>
        <p:txBody>
          <a:bodyPr wrap="square" lIns="0" tIns="0" rIns="0" bIns="0" rtlCol="0" anchor="ctr"/>
          <a:lstStyle/>
          <a:p>
            <a:pPr indent="0" marL="0">
              <a:buNone/>
            </a:pPr>
            <a:r>
              <a:rPr lang="en-US" sz="2800" b="1" dirty="0">
                <a:solidFill>
                  <a:srgbClr val="E2E8F0"/>
                </a:solidFill>
                <a:latin typeface="Calibri" pitchFamily="34" charset="0"/>
                <a:ea typeface="Calibri" pitchFamily="34" charset="-122"/>
                <a:cs typeface="Calibri" pitchFamily="34" charset="-120"/>
              </a:rPr>
              <a:t>Trade Disruption</a:t>
            </a:r>
            <a:endParaRPr lang="en-US" sz="2800" dirty="0"/>
          </a:p>
        </p:txBody>
      </p:sp>
      <p:sp>
        <p:nvSpPr>
          <p:cNvPr id="3" name="Text 1"/>
          <p:cNvSpPr/>
          <p:nvPr/>
        </p:nvSpPr>
        <p:spPr>
          <a:xfrm>
            <a:off x="548640" y="1097280"/>
            <a:ext cx="3840480" cy="1755648"/>
          </a:xfrm>
          <a:prstGeom prst="rect">
            <a:avLst/>
          </a:prstGeom>
          <a:noFill/>
          <a:ln/>
        </p:spPr>
        <p:txBody>
          <a:bodyPr wrap="square" lIns="0" tIns="0" rIns="0" bIns="0" rtlCol="0" anchor="t"/>
          <a:lstStyle/>
          <a:p>
            <a:pPr indent="0" marL="0">
              <a:buNone/>
            </a:pPr>
            <a:r>
              <a:rPr lang="en-US" sz="1600" dirty="0">
                <a:solidFill>
                  <a:srgbClr val="94A3B8"/>
                </a:solidFill>
                <a:latin typeface="Calibri" pitchFamily="34" charset="0"/>
                <a:ea typeface="Calibri" pitchFamily="34" charset="-122"/>
                <a:cs typeface="Calibri" pitchFamily="34" charset="-120"/>
              </a:rPr>
              <a:t>Uses actual US import values from UN Comtrade (in dollars, across multiple years). Production share and trade flow often tell different stories. The Substitutability tab measures supplier lock-in over time.</a:t>
            </a:r>
            <a:endParaRPr lang="en-US" sz="1600" dirty="0"/>
          </a:p>
        </p:txBody>
      </p:sp>
      <p:sp>
        <p:nvSpPr>
          <p:cNvPr id="4" name="Text 2"/>
          <p:cNvSpPr/>
          <p:nvPr/>
        </p:nvSpPr>
        <p:spPr>
          <a:xfrm>
            <a:off x="548640" y="3035808"/>
            <a:ext cx="3840480" cy="320040"/>
          </a:xfrm>
          <a:prstGeom prst="rect">
            <a:avLst/>
          </a:prstGeom>
          <a:noFill/>
          <a:ln/>
        </p:spPr>
        <p:txBody>
          <a:bodyPr wrap="square" lIns="0" tIns="0" rIns="0" bIns="0" rtlCol="0" anchor="ctr"/>
          <a:lstStyle/>
          <a:p>
            <a:pPr indent="0" marL="0">
              <a:buNone/>
            </a:pPr>
            <a:r>
              <a:rPr lang="en-US" sz="1000" b="1" spc="300" kern="0" dirty="0">
                <a:solidFill>
                  <a:srgbClr val="F59E0B"/>
                </a:solidFill>
                <a:latin typeface="Calibri" pitchFamily="34" charset="0"/>
                <a:ea typeface="Calibri" pitchFamily="34" charset="-122"/>
                <a:cs typeface="Calibri" pitchFamily="34" charset="-120"/>
              </a:rPr>
              <a:t>HELIUM / QATAR</a:t>
            </a:r>
            <a:endParaRPr lang="en-US" sz="1000" dirty="0"/>
          </a:p>
        </p:txBody>
      </p:sp>
      <p:sp>
        <p:nvSpPr>
          <p:cNvPr id="5" name="Text 3"/>
          <p:cNvSpPr/>
          <p:nvPr/>
        </p:nvSpPr>
        <p:spPr>
          <a:xfrm>
            <a:off x="548640" y="3401568"/>
            <a:ext cx="3840480" cy="2999232"/>
          </a:xfrm>
          <a:prstGeom prst="rect">
            <a:avLst/>
          </a:prstGeom>
          <a:noFill/>
          <a:ln/>
        </p:spPr>
        <p:txBody>
          <a:bodyPr wrap="square" rtlCol="0" anchor="t"/>
          <a:lstStyle/>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Qatar: top US Helium import source through 2021</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Canada replaced Qatar starting 2022 (100% by 2025)</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Only 2 countries in top position across 9 years</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Global supply shock vs. direct US import exposure</a:t>
            </a:r>
            <a:endParaRPr lang="en-US" sz="1300" dirty="0"/>
          </a:p>
        </p:txBody>
      </p:sp>
      <p:sp>
        <p:nvSpPr>
          <p:cNvPr id="6" name="Shape 4"/>
          <p:cNvSpPr/>
          <p:nvPr/>
        </p:nvSpPr>
        <p:spPr>
          <a:xfrm>
            <a:off x="4572000" y="457200"/>
            <a:ext cx="7315200" cy="4640580"/>
          </a:xfrm>
          <a:prstGeom prst="rect">
            <a:avLst/>
          </a:prstGeom>
          <a:solidFill>
            <a:srgbClr val="1E293B"/>
          </a:solidFill>
          <a:ln w="12700">
            <a:solidFill>
              <a:srgbClr val="334155"/>
            </a:solidFill>
            <a:prstDash val="solid"/>
          </a:ln>
        </p:spPr>
      </p:sp>
      <p:pic>
        <p:nvPicPr>
          <p:cNvPr id="7" name="Image 0" descr="/Users/ads7fg/git/stdn-explorer/docs/writeup_screenshots/08_trade_disruption_heatmap.png">    </p:cNvPr>
          <p:cNvPicPr>
            <a:picLocks noChangeAspect="1"/>
          </p:cNvPicPr>
          <p:nvPr/>
        </p:nvPicPr>
        <p:blipFill>
          <a:blip r:embed="rId1"/>
          <a:srcRect l="0" r="0" t="0" b="0"/>
          <a:stretch/>
        </p:blipFill>
        <p:spPr>
          <a:xfrm>
            <a:off x="4663440" y="548640"/>
            <a:ext cx="7132320" cy="44577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548640" y="365760"/>
            <a:ext cx="3840480" cy="640080"/>
          </a:xfrm>
          <a:prstGeom prst="rect">
            <a:avLst/>
          </a:prstGeom>
          <a:noFill/>
          <a:ln/>
        </p:spPr>
        <p:txBody>
          <a:bodyPr wrap="square" lIns="0" tIns="0" rIns="0" bIns="0" rtlCol="0" anchor="ctr"/>
          <a:lstStyle/>
          <a:p>
            <a:pPr indent="0" marL="0">
              <a:buNone/>
            </a:pPr>
            <a:r>
              <a:rPr lang="en-US" sz="2800" b="1" dirty="0">
                <a:solidFill>
                  <a:srgbClr val="E2E8F0"/>
                </a:solidFill>
                <a:latin typeface="Calibri" pitchFamily="34" charset="0"/>
                <a:ea typeface="Calibri" pitchFamily="34" charset="-122"/>
                <a:cs typeface="Calibri" pitchFamily="34" charset="-120"/>
              </a:rPr>
              <a:t>Policy Analyst + AI Chat</a:t>
            </a:r>
            <a:endParaRPr lang="en-US" sz="2800" dirty="0"/>
          </a:p>
        </p:txBody>
      </p:sp>
      <p:sp>
        <p:nvSpPr>
          <p:cNvPr id="3" name="Text 1"/>
          <p:cNvSpPr/>
          <p:nvPr/>
        </p:nvSpPr>
        <p:spPr>
          <a:xfrm>
            <a:off x="548640" y="1097280"/>
            <a:ext cx="3840480" cy="1463040"/>
          </a:xfrm>
          <a:prstGeom prst="rect">
            <a:avLst/>
          </a:prstGeom>
          <a:noFill/>
          <a:ln/>
        </p:spPr>
        <p:txBody>
          <a:bodyPr wrap="square" lIns="0" tIns="0" rIns="0" bIns="0" rtlCol="0" anchor="t"/>
          <a:lstStyle/>
          <a:p>
            <a:pPr indent="0" marL="0">
              <a:buNone/>
            </a:pPr>
            <a:r>
              <a:rPr lang="en-US" sz="1600" dirty="0">
                <a:solidFill>
                  <a:srgbClr val="94A3B8"/>
                </a:solidFill>
                <a:latin typeface="Calibri" pitchFamily="34" charset="0"/>
                <a:ea typeface="Calibri" pitchFamily="34" charset="-122"/>
                <a:cs typeface="Calibri" pitchFamily="34" charset="-120"/>
              </a:rPr>
              <a:t>Generates structured policy reports from six templates. An optional AI chat sidebar (Ask Gemini) allows free-form follow-up questions with the full supply chain dataset as context.</a:t>
            </a:r>
            <a:endParaRPr lang="en-US" sz="1600" dirty="0"/>
          </a:p>
        </p:txBody>
      </p:sp>
      <p:sp>
        <p:nvSpPr>
          <p:cNvPr id="4" name="Text 2"/>
          <p:cNvSpPr/>
          <p:nvPr/>
        </p:nvSpPr>
        <p:spPr>
          <a:xfrm>
            <a:off x="548640" y="2743200"/>
            <a:ext cx="3840480" cy="320040"/>
          </a:xfrm>
          <a:prstGeom prst="rect">
            <a:avLst/>
          </a:prstGeom>
          <a:noFill/>
          <a:ln/>
        </p:spPr>
        <p:txBody>
          <a:bodyPr wrap="square" lIns="0" tIns="0" rIns="0" bIns="0" rtlCol="0" anchor="ctr"/>
          <a:lstStyle/>
          <a:p>
            <a:pPr indent="0" marL="0">
              <a:buNone/>
            </a:pPr>
            <a:r>
              <a:rPr lang="en-US" sz="1000" b="1" spc="300" kern="0" dirty="0">
                <a:solidFill>
                  <a:srgbClr val="F59E0B"/>
                </a:solidFill>
                <a:latin typeface="Calibri" pitchFamily="34" charset="0"/>
                <a:ea typeface="Calibri" pitchFamily="34" charset="-122"/>
                <a:cs typeface="Calibri" pitchFamily="34" charset="-120"/>
              </a:rPr>
              <a:t>HELIUM / QATAR</a:t>
            </a:r>
            <a:endParaRPr lang="en-US" sz="1000" dirty="0"/>
          </a:p>
        </p:txBody>
      </p:sp>
      <p:sp>
        <p:nvSpPr>
          <p:cNvPr id="5" name="Text 3"/>
          <p:cNvSpPr/>
          <p:nvPr/>
        </p:nvSpPr>
        <p:spPr>
          <a:xfrm>
            <a:off x="548640" y="3108960"/>
            <a:ext cx="3840480" cy="3291840"/>
          </a:xfrm>
          <a:prstGeom prst="rect">
            <a:avLst/>
          </a:prstGeom>
          <a:noFill/>
          <a:ln/>
        </p:spPr>
        <p:txBody>
          <a:bodyPr wrap="square" rtlCol="0" anchor="t"/>
          <a:lstStyle/>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Helium report: 152 affected technologies, systemic risk</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Recommendations: diversify sourcing, reduce concentration</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Gemini calculates 15.5% global supply reduction</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Flags systemic risk across all 152 technologies</a:t>
            </a:r>
            <a:endParaRPr lang="en-US" sz="1300" dirty="0"/>
          </a:p>
        </p:txBody>
      </p:sp>
      <p:sp>
        <p:nvSpPr>
          <p:cNvPr id="6" name="Shape 4"/>
          <p:cNvSpPr/>
          <p:nvPr/>
        </p:nvSpPr>
        <p:spPr>
          <a:xfrm>
            <a:off x="4572000" y="457200"/>
            <a:ext cx="7315200" cy="4640580"/>
          </a:xfrm>
          <a:prstGeom prst="rect">
            <a:avLst/>
          </a:prstGeom>
          <a:solidFill>
            <a:srgbClr val="1E293B"/>
          </a:solidFill>
          <a:ln w="12700">
            <a:solidFill>
              <a:srgbClr val="334155"/>
            </a:solidFill>
            <a:prstDash val="solid"/>
          </a:ln>
        </p:spPr>
      </p:sp>
      <p:pic>
        <p:nvPicPr>
          <p:cNvPr id="7" name="Image 0" descr="/Users/ads7fg/git/stdn-explorer/docs/writeup_screenshots/10_analyst_gemini_response.png">    </p:cNvPr>
          <p:cNvPicPr>
            <a:picLocks noChangeAspect="1"/>
          </p:cNvPicPr>
          <p:nvPr/>
        </p:nvPicPr>
        <p:blipFill>
          <a:blip r:embed="rId1"/>
          <a:srcRect l="0" r="0" t="0" b="0"/>
          <a:stretch/>
        </p:blipFill>
        <p:spPr>
          <a:xfrm>
            <a:off x="4663440" y="548640"/>
            <a:ext cx="7132320" cy="44577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731520" y="274320"/>
            <a:ext cx="10698480" cy="640080"/>
          </a:xfrm>
          <a:prstGeom prst="rect">
            <a:avLst/>
          </a:prstGeom>
          <a:noFill/>
          <a:ln/>
        </p:spPr>
        <p:txBody>
          <a:bodyPr wrap="square" lIns="0" tIns="0" rIns="0" bIns="0" rtlCol="0" anchor="ctr"/>
          <a:lstStyle/>
          <a:p>
            <a:pPr indent="0" marL="0">
              <a:buNone/>
            </a:pPr>
            <a:r>
              <a:rPr lang="en-US" sz="3200" b="1" dirty="0">
                <a:solidFill>
                  <a:srgbClr val="E2E8F0"/>
                </a:solidFill>
                <a:latin typeface="Calibri" pitchFamily="34" charset="0"/>
                <a:ea typeface="Calibri" pitchFamily="34" charset="-122"/>
                <a:cs typeface="Calibri" pitchFamily="34" charset="-120"/>
              </a:rPr>
              <a:t>How the Data is Built</a:t>
            </a:r>
            <a:endParaRPr lang="en-US" sz="3200" dirty="0"/>
          </a:p>
        </p:txBody>
      </p:sp>
      <p:sp>
        <p:nvSpPr>
          <p:cNvPr id="3" name="Text 1"/>
          <p:cNvSpPr/>
          <p:nvPr/>
        </p:nvSpPr>
        <p:spPr>
          <a:xfrm>
            <a:off x="731520" y="868680"/>
            <a:ext cx="10698480" cy="36576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Multi-agent AI pipeline with USGS grounding</a:t>
            </a:r>
            <a:endParaRPr lang="en-US" sz="1400" dirty="0"/>
          </a:p>
        </p:txBody>
      </p:sp>
      <p:pic>
        <p:nvPicPr>
          <p:cNvPr id="4" name="Image 0" descr="/Users/ads7fg/git/stdn-explorer/docs/video_assets/pipeline_diagram.png">    </p:cNvPr>
          <p:cNvPicPr>
            <a:picLocks noChangeAspect="1"/>
          </p:cNvPicPr>
          <p:nvPr/>
        </p:nvPicPr>
        <p:blipFill>
          <a:blip r:embed="rId1"/>
          <a:srcRect l="0" r="0" t="0" b="0"/>
          <a:stretch/>
        </p:blipFill>
        <p:spPr>
          <a:xfrm>
            <a:off x="365760" y="1371600"/>
            <a:ext cx="11430000" cy="5212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731520" y="365760"/>
            <a:ext cx="10698480" cy="731520"/>
          </a:xfrm>
          <a:prstGeom prst="rect">
            <a:avLst/>
          </a:prstGeom>
          <a:noFill/>
          <a:ln/>
        </p:spPr>
        <p:txBody>
          <a:bodyPr wrap="square" lIns="0" tIns="0" rIns="0" bIns="0" rtlCol="0" anchor="ctr"/>
          <a:lstStyle/>
          <a:p>
            <a:pPr indent="0" marL="0">
              <a:buNone/>
            </a:pPr>
            <a:r>
              <a:rPr lang="en-US" sz="3600" b="1" dirty="0">
                <a:solidFill>
                  <a:srgbClr val="E2E8F0"/>
                </a:solidFill>
                <a:latin typeface="Calibri" pitchFamily="34" charset="0"/>
                <a:ea typeface="Calibri" pitchFamily="34" charset="-122"/>
                <a:cs typeface="Calibri" pitchFamily="34" charset="-120"/>
              </a:rPr>
              <a:t>By the Numbers</a:t>
            </a:r>
            <a:endParaRPr lang="en-US" sz="3600" dirty="0"/>
          </a:p>
        </p:txBody>
      </p:sp>
      <p:sp>
        <p:nvSpPr>
          <p:cNvPr id="3" name="Shape 1"/>
          <p:cNvSpPr/>
          <p:nvPr/>
        </p:nvSpPr>
        <p:spPr>
          <a:xfrm>
            <a:off x="731520" y="1645920"/>
            <a:ext cx="2560320" cy="1828800"/>
          </a:xfrm>
          <a:prstGeom prst="rect">
            <a:avLst/>
          </a:prstGeom>
          <a:solidFill>
            <a:srgbClr val="1E293B"/>
          </a:solidFill>
          <a:ln w="12700">
            <a:solidFill>
              <a:srgbClr val="334155"/>
            </a:solidFill>
            <a:prstDash val="solid"/>
          </a:ln>
        </p:spPr>
      </p:sp>
      <p:sp>
        <p:nvSpPr>
          <p:cNvPr id="4" name="Text 2"/>
          <p:cNvSpPr/>
          <p:nvPr/>
        </p:nvSpPr>
        <p:spPr>
          <a:xfrm>
            <a:off x="731520" y="1920240"/>
            <a:ext cx="2560320" cy="731520"/>
          </a:xfrm>
          <a:prstGeom prst="rect">
            <a:avLst/>
          </a:prstGeom>
          <a:noFill/>
          <a:ln/>
        </p:spPr>
        <p:txBody>
          <a:bodyPr wrap="square" lIns="0" tIns="0" rIns="0" bIns="0" rtlCol="0" anchor="ctr"/>
          <a:lstStyle/>
          <a:p>
            <a:pPr algn="ctr" indent="0" marL="0">
              <a:buNone/>
            </a:pPr>
            <a:r>
              <a:rPr lang="en-US" sz="3200" b="1" dirty="0">
                <a:solidFill>
                  <a:srgbClr val="6366F1"/>
                </a:solidFill>
                <a:latin typeface="Calibri" pitchFamily="34" charset="0"/>
                <a:ea typeface="Calibri" pitchFamily="34" charset="-122"/>
                <a:cs typeface="Calibri" pitchFamily="34" charset="-120"/>
              </a:rPr>
              <a:t>180</a:t>
            </a:r>
            <a:endParaRPr lang="en-US" sz="3200" dirty="0"/>
          </a:p>
        </p:txBody>
      </p:sp>
      <p:sp>
        <p:nvSpPr>
          <p:cNvPr id="5" name="Text 3"/>
          <p:cNvSpPr/>
          <p:nvPr/>
        </p:nvSpPr>
        <p:spPr>
          <a:xfrm>
            <a:off x="731520" y="2743200"/>
            <a:ext cx="2560320" cy="457200"/>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technologies mapped</a:t>
            </a:r>
            <a:endParaRPr lang="en-US" sz="1300" dirty="0"/>
          </a:p>
        </p:txBody>
      </p:sp>
      <p:sp>
        <p:nvSpPr>
          <p:cNvPr id="6" name="Shape 4"/>
          <p:cNvSpPr/>
          <p:nvPr/>
        </p:nvSpPr>
        <p:spPr>
          <a:xfrm>
            <a:off x="3566160" y="1645920"/>
            <a:ext cx="2560320" cy="1828800"/>
          </a:xfrm>
          <a:prstGeom prst="rect">
            <a:avLst/>
          </a:prstGeom>
          <a:solidFill>
            <a:srgbClr val="1E293B"/>
          </a:solidFill>
          <a:ln w="12700">
            <a:solidFill>
              <a:srgbClr val="334155"/>
            </a:solidFill>
            <a:prstDash val="solid"/>
          </a:ln>
        </p:spPr>
      </p:sp>
      <p:sp>
        <p:nvSpPr>
          <p:cNvPr id="7" name="Text 5"/>
          <p:cNvSpPr/>
          <p:nvPr/>
        </p:nvSpPr>
        <p:spPr>
          <a:xfrm>
            <a:off x="3566160" y="1920240"/>
            <a:ext cx="2560320" cy="731520"/>
          </a:xfrm>
          <a:prstGeom prst="rect">
            <a:avLst/>
          </a:prstGeom>
          <a:noFill/>
          <a:ln/>
        </p:spPr>
        <p:txBody>
          <a:bodyPr wrap="square" lIns="0" tIns="0" rIns="0" bIns="0" rtlCol="0" anchor="ctr"/>
          <a:lstStyle/>
          <a:p>
            <a:pPr algn="ctr" indent="0" marL="0">
              <a:buNone/>
            </a:pPr>
            <a:r>
              <a:rPr lang="en-US" sz="3200" b="1" dirty="0">
                <a:solidFill>
                  <a:srgbClr val="22C55E"/>
                </a:solidFill>
                <a:latin typeface="Calibri" pitchFamily="34" charset="0"/>
                <a:ea typeface="Calibri" pitchFamily="34" charset="-122"/>
                <a:cs typeface="Calibri" pitchFamily="34" charset="-120"/>
              </a:rPr>
              <a:t>3</a:t>
            </a:r>
            <a:endParaRPr lang="en-US" sz="3200" dirty="0"/>
          </a:p>
        </p:txBody>
      </p:sp>
      <p:sp>
        <p:nvSpPr>
          <p:cNvPr id="8" name="Text 6"/>
          <p:cNvSpPr/>
          <p:nvPr/>
        </p:nvSpPr>
        <p:spPr>
          <a:xfrm>
            <a:off x="3566160" y="2743200"/>
            <a:ext cx="2560320" cy="457200"/>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industry domains</a:t>
            </a:r>
            <a:endParaRPr lang="en-US" sz="1300" dirty="0"/>
          </a:p>
        </p:txBody>
      </p:sp>
      <p:sp>
        <p:nvSpPr>
          <p:cNvPr id="9" name="Shape 7"/>
          <p:cNvSpPr/>
          <p:nvPr/>
        </p:nvSpPr>
        <p:spPr>
          <a:xfrm>
            <a:off x="6400800" y="1645920"/>
            <a:ext cx="2560320" cy="1828800"/>
          </a:xfrm>
          <a:prstGeom prst="rect">
            <a:avLst/>
          </a:prstGeom>
          <a:solidFill>
            <a:srgbClr val="1E293B"/>
          </a:solidFill>
          <a:ln w="12700">
            <a:solidFill>
              <a:srgbClr val="334155"/>
            </a:solidFill>
            <a:prstDash val="solid"/>
          </a:ln>
        </p:spPr>
      </p:sp>
      <p:sp>
        <p:nvSpPr>
          <p:cNvPr id="10" name="Text 8"/>
          <p:cNvSpPr/>
          <p:nvPr/>
        </p:nvSpPr>
        <p:spPr>
          <a:xfrm>
            <a:off x="6400800" y="1920240"/>
            <a:ext cx="2560320" cy="731520"/>
          </a:xfrm>
          <a:prstGeom prst="rect">
            <a:avLst/>
          </a:prstGeom>
          <a:noFill/>
          <a:ln/>
        </p:spPr>
        <p:txBody>
          <a:bodyPr wrap="square" lIns="0" tIns="0" rIns="0" bIns="0" rtlCol="0" anchor="ctr"/>
          <a:lstStyle/>
          <a:p>
            <a:pPr algn="ctr" indent="0" marL="0">
              <a:buNone/>
            </a:pPr>
            <a:r>
              <a:rPr lang="en-US" sz="3200" b="1" dirty="0">
                <a:solidFill>
                  <a:srgbClr val="F59E0B"/>
                </a:solidFill>
                <a:latin typeface="Calibri" pitchFamily="34" charset="0"/>
                <a:ea typeface="Calibri" pitchFamily="34" charset="-122"/>
                <a:cs typeface="Calibri" pitchFamily="34" charset="-120"/>
              </a:rPr>
              <a:t>~900</a:t>
            </a:r>
            <a:endParaRPr lang="en-US" sz="3200" dirty="0"/>
          </a:p>
        </p:txBody>
      </p:sp>
      <p:sp>
        <p:nvSpPr>
          <p:cNvPr id="11" name="Text 9"/>
          <p:cNvSpPr/>
          <p:nvPr/>
        </p:nvSpPr>
        <p:spPr>
          <a:xfrm>
            <a:off x="6400800" y="2743200"/>
            <a:ext cx="2560320" cy="457200"/>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distinct materials</a:t>
            </a:r>
            <a:endParaRPr lang="en-US" sz="1300" dirty="0"/>
          </a:p>
        </p:txBody>
      </p:sp>
      <p:sp>
        <p:nvSpPr>
          <p:cNvPr id="12" name="Shape 10"/>
          <p:cNvSpPr/>
          <p:nvPr/>
        </p:nvSpPr>
        <p:spPr>
          <a:xfrm>
            <a:off x="9235440" y="1645920"/>
            <a:ext cx="2560320" cy="1828800"/>
          </a:xfrm>
          <a:prstGeom prst="rect">
            <a:avLst/>
          </a:prstGeom>
          <a:solidFill>
            <a:srgbClr val="1E293B"/>
          </a:solidFill>
          <a:ln w="12700">
            <a:solidFill>
              <a:srgbClr val="334155"/>
            </a:solidFill>
            <a:prstDash val="solid"/>
          </a:ln>
        </p:spPr>
      </p:sp>
      <p:sp>
        <p:nvSpPr>
          <p:cNvPr id="13" name="Text 11"/>
          <p:cNvSpPr/>
          <p:nvPr/>
        </p:nvSpPr>
        <p:spPr>
          <a:xfrm>
            <a:off x="9235440" y="1920240"/>
            <a:ext cx="2560320" cy="731520"/>
          </a:xfrm>
          <a:prstGeom prst="rect">
            <a:avLst/>
          </a:prstGeom>
          <a:noFill/>
          <a:ln/>
        </p:spPr>
        <p:txBody>
          <a:bodyPr wrap="square" lIns="0" tIns="0" rIns="0" bIns="0" rtlCol="0" anchor="ctr"/>
          <a:lstStyle/>
          <a:p>
            <a:pPr algn="ctr" indent="0" marL="0">
              <a:buNone/>
            </a:pPr>
            <a:r>
              <a:rPr lang="en-US" sz="3200" b="1" dirty="0">
                <a:solidFill>
                  <a:srgbClr val="EF4444"/>
                </a:solidFill>
                <a:latin typeface="Calibri" pitchFamily="34" charset="0"/>
                <a:ea typeface="Calibri" pitchFamily="34" charset="-122"/>
                <a:cs typeface="Calibri" pitchFamily="34" charset="-120"/>
              </a:rPr>
              <a:t>~140</a:t>
            </a:r>
            <a:endParaRPr lang="en-US" sz="3200" dirty="0"/>
          </a:p>
        </p:txBody>
      </p:sp>
      <p:sp>
        <p:nvSpPr>
          <p:cNvPr id="14" name="Text 12"/>
          <p:cNvSpPr/>
          <p:nvPr/>
        </p:nvSpPr>
        <p:spPr>
          <a:xfrm>
            <a:off x="9235440" y="2743200"/>
            <a:ext cx="2560320" cy="457200"/>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producing countries</a:t>
            </a:r>
            <a:endParaRPr lang="en-US" sz="1300" dirty="0"/>
          </a:p>
        </p:txBody>
      </p:sp>
      <p:sp>
        <p:nvSpPr>
          <p:cNvPr id="15" name="Shape 13"/>
          <p:cNvSpPr/>
          <p:nvPr/>
        </p:nvSpPr>
        <p:spPr>
          <a:xfrm>
            <a:off x="731520" y="3931920"/>
            <a:ext cx="2560320" cy="1828800"/>
          </a:xfrm>
          <a:prstGeom prst="rect">
            <a:avLst/>
          </a:prstGeom>
          <a:solidFill>
            <a:srgbClr val="1E293B"/>
          </a:solidFill>
          <a:ln w="12700">
            <a:solidFill>
              <a:srgbClr val="334155"/>
            </a:solidFill>
            <a:prstDash val="solid"/>
          </a:ln>
        </p:spPr>
      </p:sp>
      <p:sp>
        <p:nvSpPr>
          <p:cNvPr id="16" name="Text 14"/>
          <p:cNvSpPr/>
          <p:nvPr/>
        </p:nvSpPr>
        <p:spPr>
          <a:xfrm>
            <a:off x="731520" y="4206240"/>
            <a:ext cx="2560320" cy="731520"/>
          </a:xfrm>
          <a:prstGeom prst="rect">
            <a:avLst/>
          </a:prstGeom>
          <a:noFill/>
          <a:ln/>
        </p:spPr>
        <p:txBody>
          <a:bodyPr wrap="square" lIns="0" tIns="0" rIns="0" bIns="0" rtlCol="0" anchor="ctr"/>
          <a:lstStyle/>
          <a:p>
            <a:pPr algn="ctr" indent="0" marL="0">
              <a:buNone/>
            </a:pPr>
            <a:r>
              <a:rPr lang="en-US" sz="3200" b="1" dirty="0">
                <a:solidFill>
                  <a:srgbClr val="6366F1"/>
                </a:solidFill>
                <a:latin typeface="Calibri" pitchFamily="34" charset="0"/>
                <a:ea typeface="Calibri" pitchFamily="34" charset="-122"/>
                <a:cs typeface="Calibri" pitchFamily="34" charset="-120"/>
              </a:rPr>
              <a:t>43,000+</a:t>
            </a:r>
            <a:endParaRPr lang="en-US" sz="3200" dirty="0"/>
          </a:p>
        </p:txBody>
      </p:sp>
      <p:sp>
        <p:nvSpPr>
          <p:cNvPr id="17" name="Text 15"/>
          <p:cNvSpPr/>
          <p:nvPr/>
        </p:nvSpPr>
        <p:spPr>
          <a:xfrm>
            <a:off x="731520" y="5029200"/>
            <a:ext cx="2560320" cy="457200"/>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supply chain links</a:t>
            </a:r>
            <a:endParaRPr lang="en-US" sz="1300" dirty="0"/>
          </a:p>
        </p:txBody>
      </p:sp>
      <p:sp>
        <p:nvSpPr>
          <p:cNvPr id="18" name="Shape 16"/>
          <p:cNvSpPr/>
          <p:nvPr/>
        </p:nvSpPr>
        <p:spPr>
          <a:xfrm>
            <a:off x="3566160" y="3931920"/>
            <a:ext cx="2560320" cy="1828800"/>
          </a:xfrm>
          <a:prstGeom prst="rect">
            <a:avLst/>
          </a:prstGeom>
          <a:solidFill>
            <a:srgbClr val="1E293B"/>
          </a:solidFill>
          <a:ln w="12700">
            <a:solidFill>
              <a:srgbClr val="334155"/>
            </a:solidFill>
            <a:prstDash val="solid"/>
          </a:ln>
        </p:spPr>
      </p:sp>
      <p:sp>
        <p:nvSpPr>
          <p:cNvPr id="19" name="Text 17"/>
          <p:cNvSpPr/>
          <p:nvPr/>
        </p:nvSpPr>
        <p:spPr>
          <a:xfrm>
            <a:off x="3566160" y="4206240"/>
            <a:ext cx="2560320" cy="731520"/>
          </a:xfrm>
          <a:prstGeom prst="rect">
            <a:avLst/>
          </a:prstGeom>
          <a:noFill/>
          <a:ln/>
        </p:spPr>
        <p:txBody>
          <a:bodyPr wrap="square" lIns="0" tIns="0" rIns="0" bIns="0" rtlCol="0" anchor="ctr"/>
          <a:lstStyle/>
          <a:p>
            <a:pPr algn="ctr" indent="0" marL="0">
              <a:buNone/>
            </a:pPr>
            <a:r>
              <a:rPr lang="en-US" sz="3200" b="1" dirty="0">
                <a:solidFill>
                  <a:srgbClr val="22C55E"/>
                </a:solidFill>
                <a:latin typeface="Calibri" pitchFamily="34" charset="0"/>
                <a:ea typeface="Calibri" pitchFamily="34" charset="-122"/>
                <a:cs typeface="Calibri" pitchFamily="34" charset="-120"/>
              </a:rPr>
              <a:t>~30 min</a:t>
            </a:r>
            <a:endParaRPr lang="en-US" sz="3200" dirty="0"/>
          </a:p>
        </p:txBody>
      </p:sp>
      <p:sp>
        <p:nvSpPr>
          <p:cNvPr id="20" name="Text 18"/>
          <p:cNvSpPr/>
          <p:nvPr/>
        </p:nvSpPr>
        <p:spPr>
          <a:xfrm>
            <a:off x="3566160" y="5029200"/>
            <a:ext cx="2560320" cy="457200"/>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per technology</a:t>
            </a:r>
            <a:endParaRPr lang="en-US" sz="1300" dirty="0"/>
          </a:p>
        </p:txBody>
      </p:sp>
      <p:sp>
        <p:nvSpPr>
          <p:cNvPr id="21" name="Shape 19"/>
          <p:cNvSpPr/>
          <p:nvPr/>
        </p:nvSpPr>
        <p:spPr>
          <a:xfrm>
            <a:off x="6400800" y="3931920"/>
            <a:ext cx="2560320" cy="1828800"/>
          </a:xfrm>
          <a:prstGeom prst="rect">
            <a:avLst/>
          </a:prstGeom>
          <a:solidFill>
            <a:srgbClr val="1E293B"/>
          </a:solidFill>
          <a:ln w="12700">
            <a:solidFill>
              <a:srgbClr val="334155"/>
            </a:solidFill>
            <a:prstDash val="solid"/>
          </a:ln>
        </p:spPr>
      </p:sp>
      <p:sp>
        <p:nvSpPr>
          <p:cNvPr id="22" name="Text 20"/>
          <p:cNvSpPr/>
          <p:nvPr/>
        </p:nvSpPr>
        <p:spPr>
          <a:xfrm>
            <a:off x="6400800" y="4206240"/>
            <a:ext cx="2560320" cy="731520"/>
          </a:xfrm>
          <a:prstGeom prst="rect">
            <a:avLst/>
          </a:prstGeom>
          <a:noFill/>
          <a:ln/>
        </p:spPr>
        <p:txBody>
          <a:bodyPr wrap="square" lIns="0" tIns="0" rIns="0" bIns="0" rtlCol="0" anchor="ctr"/>
          <a:lstStyle/>
          <a:p>
            <a:pPr algn="ctr" indent="0" marL="0">
              <a:buNone/>
            </a:pPr>
            <a:r>
              <a:rPr lang="en-US" sz="3200" b="1" dirty="0">
                <a:solidFill>
                  <a:srgbClr val="F59E0B"/>
                </a:solidFill>
                <a:latin typeface="Calibri" pitchFamily="34" charset="0"/>
                <a:ea typeface="Calibri" pitchFamily="34" charset="-122"/>
                <a:cs typeface="Calibri" pitchFamily="34" charset="-120"/>
              </a:rPr>
              <a:t>1 day</a:t>
            </a:r>
            <a:endParaRPr lang="en-US" sz="3200" dirty="0"/>
          </a:p>
        </p:txBody>
      </p:sp>
      <p:sp>
        <p:nvSpPr>
          <p:cNvPr id="23" name="Text 21"/>
          <p:cNvSpPr/>
          <p:nvPr/>
        </p:nvSpPr>
        <p:spPr>
          <a:xfrm>
            <a:off x="6400800" y="5029200"/>
            <a:ext cx="2560320" cy="457200"/>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to build full sample</a:t>
            </a:r>
            <a:endParaRPr lang="en-US" sz="1300" dirty="0"/>
          </a:p>
        </p:txBody>
      </p:sp>
      <p:sp>
        <p:nvSpPr>
          <p:cNvPr id="24" name="Shape 22"/>
          <p:cNvSpPr/>
          <p:nvPr/>
        </p:nvSpPr>
        <p:spPr>
          <a:xfrm>
            <a:off x="9235440" y="3931920"/>
            <a:ext cx="2560320" cy="1828800"/>
          </a:xfrm>
          <a:prstGeom prst="rect">
            <a:avLst/>
          </a:prstGeom>
          <a:solidFill>
            <a:srgbClr val="1E293B"/>
          </a:solidFill>
          <a:ln w="12700">
            <a:solidFill>
              <a:srgbClr val="334155"/>
            </a:solidFill>
            <a:prstDash val="solid"/>
          </a:ln>
        </p:spPr>
      </p:sp>
      <p:sp>
        <p:nvSpPr>
          <p:cNvPr id="25" name="Text 23"/>
          <p:cNvSpPr/>
          <p:nvPr/>
        </p:nvSpPr>
        <p:spPr>
          <a:xfrm>
            <a:off x="9235440" y="4206240"/>
            <a:ext cx="2560320" cy="731520"/>
          </a:xfrm>
          <a:prstGeom prst="rect">
            <a:avLst/>
          </a:prstGeom>
          <a:noFill/>
          <a:ln/>
        </p:spPr>
        <p:txBody>
          <a:bodyPr wrap="square" lIns="0" tIns="0" rIns="0" bIns="0" rtlCol="0" anchor="ctr"/>
          <a:lstStyle/>
          <a:p>
            <a:pPr algn="ctr" indent="0" marL="0">
              <a:buNone/>
            </a:pPr>
            <a:r>
              <a:rPr lang="en-US" sz="3200" b="1" dirty="0">
                <a:solidFill>
                  <a:srgbClr val="EF4444"/>
                </a:solidFill>
                <a:latin typeface="Calibri" pitchFamily="34" charset="0"/>
                <a:ea typeface="Calibri" pitchFamily="34" charset="-122"/>
                <a:cs typeface="Calibri" pitchFamily="34" charset="-120"/>
              </a:rPr>
              <a:t>0.95</a:t>
            </a:r>
            <a:endParaRPr lang="en-US" sz="3200" dirty="0"/>
          </a:p>
        </p:txBody>
      </p:sp>
      <p:sp>
        <p:nvSpPr>
          <p:cNvPr id="26" name="Text 24"/>
          <p:cNvSpPr/>
          <p:nvPr/>
        </p:nvSpPr>
        <p:spPr>
          <a:xfrm>
            <a:off x="9235440" y="5029200"/>
            <a:ext cx="2560320" cy="457200"/>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USGS confidence score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9"/>
        </a:solidFill>
      </p:bgPr>
    </p:bg>
    <p:spTree>
      <p:nvGrpSpPr>
        <p:cNvPr id="1" name=""/>
        <p:cNvGrpSpPr/>
        <p:nvPr/>
      </p:nvGrpSpPr>
      <p:grpSpPr>
        <a:xfrm>
          <a:off x="0" y="0"/>
          <a:ext cx="0" cy="0"/>
          <a:chOff x="0" y="0"/>
          <a:chExt cx="0" cy="0"/>
        </a:xfrm>
      </p:grpSpPr>
      <p:sp>
        <p:nvSpPr>
          <p:cNvPr id="2" name="Shape 0"/>
          <p:cNvSpPr/>
          <p:nvPr/>
        </p:nvSpPr>
        <p:spPr>
          <a:xfrm>
            <a:off x="0" y="6803136"/>
            <a:ext cx="12188952" cy="54864"/>
          </a:xfrm>
          <a:prstGeom prst="rect">
            <a:avLst/>
          </a:prstGeom>
          <a:solidFill>
            <a:srgbClr val="F59E0B"/>
          </a:solidFill>
          <a:ln/>
        </p:spPr>
      </p:sp>
      <p:sp>
        <p:nvSpPr>
          <p:cNvPr id="3" name="Text 1"/>
          <p:cNvSpPr/>
          <p:nvPr/>
        </p:nvSpPr>
        <p:spPr>
          <a:xfrm>
            <a:off x="731520" y="2011680"/>
            <a:ext cx="10698480" cy="914400"/>
          </a:xfrm>
          <a:prstGeom prst="rect">
            <a:avLst/>
          </a:prstGeom>
          <a:noFill/>
          <a:ln/>
        </p:spPr>
        <p:txBody>
          <a:bodyPr wrap="square" lIns="0" tIns="0" rIns="0" bIns="0" rtlCol="0" anchor="ctr"/>
          <a:lstStyle/>
          <a:p>
            <a:pPr indent="0" marL="0">
              <a:buNone/>
            </a:pPr>
            <a:r>
              <a:rPr lang="en-US" sz="4400" b="1" dirty="0">
                <a:solidFill>
                  <a:srgbClr val="E2E8F0"/>
                </a:solidFill>
                <a:latin typeface="Calibri" pitchFamily="34" charset="0"/>
                <a:ea typeface="Calibri" pitchFamily="34" charset="-122"/>
                <a:cs typeface="Calibri" pitchFamily="34" charset="-120"/>
              </a:rPr>
              <a:t>Try It</a:t>
            </a:r>
            <a:endParaRPr lang="en-US" sz="4400" dirty="0"/>
          </a:p>
        </p:txBody>
      </p:sp>
      <p:sp>
        <p:nvSpPr>
          <p:cNvPr id="4" name="Text 2"/>
          <p:cNvSpPr/>
          <p:nvPr/>
        </p:nvSpPr>
        <p:spPr>
          <a:xfrm>
            <a:off x="731520" y="3200400"/>
            <a:ext cx="10698480" cy="548640"/>
          </a:xfrm>
          <a:prstGeom prst="rect">
            <a:avLst/>
          </a:prstGeom>
          <a:noFill/>
          <a:ln/>
        </p:spPr>
        <p:txBody>
          <a:bodyPr wrap="square" lIns="0" tIns="0" rIns="0" bIns="0" rtlCol="0" anchor="ctr"/>
          <a:lstStyle/>
          <a:p>
            <a:pPr indent="0" marL="0">
              <a:buNone/>
            </a:pPr>
            <a:r>
              <a:rPr lang="en-US" sz="2200" dirty="0">
                <a:solidFill>
                  <a:srgbClr val="F59E0B"/>
                </a:solidFill>
                <a:latin typeface="Calibri" pitchFamily="34" charset="0"/>
                <a:ea typeface="Calibri" pitchFamily="34" charset="-122"/>
                <a:cs typeface="Calibri" pitchFamily="34" charset="-120"/>
              </a:rPr>
              <a:t>dads2busy.github.io/stdn-explorer</a:t>
            </a:r>
            <a:endParaRPr lang="en-US" sz="2200" dirty="0"/>
          </a:p>
        </p:txBody>
      </p:sp>
      <p:sp>
        <p:nvSpPr>
          <p:cNvPr id="5" name="Text 3"/>
          <p:cNvSpPr/>
          <p:nvPr/>
        </p:nvSpPr>
        <p:spPr>
          <a:xfrm>
            <a:off x="731520" y="4023360"/>
            <a:ext cx="10698480" cy="1828800"/>
          </a:xfrm>
          <a:prstGeom prst="rect">
            <a:avLst/>
          </a:prstGeom>
          <a:noFill/>
          <a:ln/>
        </p:spPr>
        <p:txBody>
          <a:bodyPr wrap="square" lIns="0" tIns="0" rIns="0" bIns="0" rtlCol="0" anchor="ctr"/>
          <a:lstStyle/>
          <a:p>
            <a:pPr indent="0" marL="0">
              <a:spcAft>
                <a:spcPts val="600"/>
              </a:spcAft>
              <a:buNone/>
            </a:pPr>
            <a:r>
              <a:rPr lang="en-US" sz="1600" dirty="0">
                <a:solidFill>
                  <a:srgbClr val="94A3B8"/>
                </a:solidFill>
                <a:latin typeface="Calibri" pitchFamily="34" charset="0"/>
                <a:ea typeface="Calibri" pitchFamily="34" charset="-122"/>
                <a:cs typeface="Calibri" pitchFamily="34" charset="-120"/>
              </a:rPr>
              <a:t>Source: github.com/dads2busy/stdn-explorer</a:t>
            </a:r>
            <a:endParaRPr lang="en-US" sz="1600" dirty="0"/>
          </a:p>
          <a:p>
            <a:pPr indent="0" marL="0">
              <a:spcAft>
                <a:spcPts val="600"/>
              </a:spcAft>
              <a:buNone/>
            </a:pPr>
            <a:r>
              <a:rPr lang="en-US" sz="1600" dirty="0">
                <a:solidFill>
                  <a:srgbClr val="94A3B8"/>
                </a:solidFill>
                <a:latin typeface="Calibri" pitchFamily="34" charset="0"/>
                <a:ea typeface="Calibri" pitchFamily="34" charset="-122"/>
                <a:cs typeface="Calibri" pitchFamily="34" charset="-120"/>
              </a:rPr>
              <a:t>Video walkthrough: see GitHub Releases</a:t>
            </a:r>
            <a:endParaRPr lang="en-US" sz="1600" dirty="0"/>
          </a:p>
          <a:p>
            <a:pPr indent="0" marL="0">
              <a:spcAft>
                <a:spcPts val="600"/>
              </a:spcAft>
              <a:buNone/>
            </a:pPr>
            <a:endParaRPr lang="en-US" sz="1600" dirty="0"/>
          </a:p>
          <a:p>
            <a:pPr indent="0" marL="0">
              <a:spcAft>
                <a:spcPts val="600"/>
              </a:spcAft>
              <a:buNone/>
            </a:pPr>
            <a:r>
              <a:rPr lang="en-US" sz="1600" dirty="0">
                <a:solidFill>
                  <a:srgbClr val="94A3B8"/>
                </a:solidFill>
                <a:latin typeface="Calibri" pitchFamily="34" charset="0"/>
                <a:ea typeface="Calibri" pitchFamily="34" charset="-122"/>
                <a:cs typeface="Calibri" pitchFamily="34" charset="-120"/>
              </a:rPr>
              <a:t>No installation, login, or backend server required.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STDN Explorer: Supply Chain Analysis Dashboard</dc:title>
  <dc:subject>PptxGenJS Presentation</dc:subject>
  <dc:creator>STDN Explorer</dc:creator>
  <cp:lastModifiedBy>STDN Explorer</cp:lastModifiedBy>
  <cp:revision>1</cp:revision>
  <dcterms:created xsi:type="dcterms:W3CDTF">2026-04-09T19:53:59Z</dcterms:created>
  <dcterms:modified xsi:type="dcterms:W3CDTF">2026-04-09T19:53:59Z</dcterms:modified>
</cp:coreProperties>
</file>